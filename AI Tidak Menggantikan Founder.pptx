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74"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0708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dengan tenang. Perkenalkan diri satu kalimat saja: lebih dari 12 tahun membangun sistem pembayaran dan e-money. Kalau ada yang senyum lihat tulisan sponsor di pojok kanan atas, bisa diselipkan: "Sayangnya beneran tidak disponsori. Saya cuma pengguna setia." Janji sesi ini: di akhir nanti, teman-teman akan paham kenapa Python adalah "gagang kemudi" founder untuk AI, dan melihat langsung cara kerjanya.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peserta benar-benar angkat tangan. Tunggu sebentar. Biasanya hampir semua tangan naik. Lalu bilang: "Simpan dulu pikiran itu. Karena logika yang sama juga berlaku untuk kompetitor kalian."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Slido, minta peserta scan atau masukkan kode. Tiap pertanyaan dibuka sekitar 15 detik, tampilkan hasilnya, satu kalimat, lanjut. Total 3 sampai 4 menit. Opsional: minta yang memilih C berdiri sebentar supaya ruangan bergerak. 1. Chat harga dan stok: biasanya mayoritas A. "Hari ini pun sudah bisa." 2. Rekap pesanan WhatsApp: "Ingat jawaban kalian. Nanti kita buktikan langsung di demo." 3. Caption dan desain promosi: biasanya terbelah A dan B. "Bisa, tapi siapa yang memutuskan mana yang cocok untuk brand kalian?" 4. Gaji dan pajak: "Kalau salah satu digit, siapa yang tanggung jawab? Urusan uang selalu perlu pengaman." 5. Menagih yang telat bayar: "AI bisa kirim pesan. Tapi menjaga hubungan dengan pelanggan langganan?" 6. Membuat produk baru: penutup. "AI bisa bantu riset dan kasih ide. Tapi memilih produk yang benar-benar dibutuhkan pasar, dan menanggung risikonya, tetap tugas founder." Lalu jembatan ke slide berikutnya: "Jadi pertanyaannya bukan apakah AI mengambil pekerjaan, tapi berapa orang yang kalian butuhkan."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Angka 50 dan 5 hanya ilustrasi, bukan data statistik. Intinya: AI bukan cuma mengancam karyawan, tapi mengubah bentuk perusahaan yang bisa dibangun kompetitor. Kecepatan dan efisiensi jadi medan perangnya.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inti dari seluruh sesi. AI yang mengerjakan; founder yang memilih, merangkai, dan memeriksa. Ketiganya bisa dilakukan dengan Python, makanya sesi ini membahas Python.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 tidak membuat semua manajer jadi akuntan, tapi manajer yang jago Excel jauh lebih lincah daripada yang tidak. Sama halnya dengan Python dan AI. Kalian tidak perlu jadi programmer; cukup bisa merangkai dan membaca apa yang ditulis.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ini untuk menenangkan founder yang tidak berlatar teknis. Kolom kiri itulah seluruh "kurikulumnya". Semua yang ada di demo sebentar lagi hanya memakai empat kemampuan ini.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demo, kita bongkar dulu apa yang sebenarnya dikirim ke Claude. Polanya selalu sama: satu fungsi, client.messages.create. Yang putih adalah struktur, namanya tidak boleh diubah: model, max_tokens, messages, role, content, type. Yang oranye adalah isinya, dan di situlah pekerjaan kita: pilih model, tentukan batas panjang jawaban, lalu tulis "text", yaitu prompt kita. Di demo, prompt-nya berisi peran (admin toko), katalog produk, 9 pesan WhatsApp, dan permintaan supaya jawabannya berbentuk JSON dengan kolom tertentu. Jadi "memprogram AI" sebagian besar adalah menulis teks yang jelas. Yang biru adalah parameter opsional, boleh ada boleh tidak. system berisi aturan yang berlaku untuk seluruh percakapan, misalnya "jawab hanya dalam JSON". temperature mengatur seberapa acak AI memilih kata berikutnya: rendah berarti lebih konsisten, tinggi berarti lebih bervariasi. Tapi perhatikan komentarnya: temperature hanya diterima model generasi 4 ke bawah. Model generasi 5 seperti claude-sonnet-5-5 yang dipakai di slide ini justru menolaknya dengan error 400. Jadi kalau baris itu dipakai bersama model 5.5, permintaannya gagal. Ini contoh nyata kenapa kita harus baca dokumentasi terbaru, bukan mengandalkan ingatan, termasuk ingatan AI. Cara membuat jawaban model 5 lebih bisa ditebak: prompt yang jelas dengan contoh format, fitur structured output yang memaksa jawaban mengikuti skema JSON, dan tetap dicek dengan Python seperti di demo. Masih banyak parameter opsional lain (misalnya stop_sequences, tools); silakan eksplor di dokumentasi API Claude. Demo.py sendiri tidak memakai keduanya, supaya contohnya tetap sederhana. Catatan: di demo.py, content ditulis langsung sebagai teks biasa; itu bentuk singkat dari blok type "text" yang ada di slide ini, hasilnya sama.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yang dikirim balik oleh Claude. Kelihatannya banyak, tapi yang benar-benar kita pakai cuma tiga bagian yang oranye. Pertama, content[0].text: di sinilah jawabannya, berupa teks. Karena di prompt kita minta JSON, teksnya berisi daftar JSON, lalu satu baris Python mengubahnya jadi data yang bisa dicek. Kedua, stop_reason: kalau isinya "max_tokens", jawabannya terpotong di tengah, jadi jangan diproses; naikkan max_tokens dan ulangi. Ini salah satu pengecekan kecil yang sering dilupakan. Ketiga, usage: jumlah token masuk dan keluar, itulah yang dibayar. Angka 612 dan 845 di sini hanya contoh. Sisanya (id, type, role, model) adalah info tambahan yang strukturnya selalu sama. Catatan teknis: kalau fitur "thinking" dinyalakan, content bisa diawali blok thinking, makanya di demo.py teksnya dicari berdasarkan type "text", bukan langsung indeks 0.</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menjalankan demo, sampaikan satu kalimat ini: "AI di sini cuma tugas membaca: dari pesan WhatsApp jadi kode produk dan jumlah. Harga dan hitungannya tetap Python yang pegang, diambil dari katalog." Alasannya: AI bukan kalkulator yang bisa diandalkan, bisa salah hitung atau mengarang harga, sedangkan kode selalu memberi hasil yang sama dan bisa diaudit. Dengan begitu, kalau nanti hasilnya salah, peserta tahu salahnya bukan karena AI tidak bisa berhitung, tapi karena AI salah memahami pesan. Lalu pindah ke terminal. Pakai --offline kecuali wifi di lokasi benar-benar stabil. Slide berikutnya bisa jadi cadangan kalau demo bermasalah.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Bacakan dua atau tiga pesan supaya suasana cair. Tunjukkan: ada bahasa gaul, angka yang ditulis dengan huruf, dan salah ketik. Jangan bahas pesan dobel atau ralat dulu; biarkan peserta yang menemukannya setelah Babak 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hasil Babak 1: sebelas baris rapi dalam hitungan detik. Ingatkan lagi: AI cuma membaca pesan jadi kode produk dan jumlah; harga dan totalnya dihitung Python dari katalog di kanan. Jadi hitungannya pasti benar, yang perlu dicek adalah apakah AI memahami pesannya dengan benar. Tanyakan ke peserta: ada yang salah? Beri waktu sekitar satu menit. Biasanya yang pertama ketahuan adalah baris minus Mira atau pesan Pak Andi yang muncul dua kali. Petunjuk kalau sepi: Bu Rina tercatat beli gula aren 1 kg DAN 2 kg, lalu baris Fajar yang harganya nol.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AI-nya tidak bodoh: "sepuluh" dibaca jadi 10, dan dua ralat dikenali sebagai ralat. Hitungannya juga pasti benar, karena itu tugas Python. Masalahnya ada di kita yang percaya begitu saja pada cara AI membaca pesan. Rinciannya: pesan dobel Pak Andi bikin kelebihan Rp 225.000. Ralat Bu Rina dihitung 1 kg + 2 kg, padahal yang benar 2 kg, jadi kelebihan Rp 40.000. Mira menulis -1 lalu meralat jadi 1; versi AI saja menghitung -85.000 + 85.000 = 0, padahal seharusnya 85.000, jadi kurang Rp 85.000. Ada yang kelebihan, ada yang kekurangan, dan saling menutupi, jadi totalnya kelihatan wajar. Itu yang paling berbahaya. Sekarang bayangkan kalau ada 800 pesan sehari.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versi ringkas dari fungsi guarded() di demo.py (di kode aslinya nama variabel dalam bahasa Inggris). Bahas satu per satu, cepat saja: pertama, sebelum memproses apa pun, cek dulu stop_reason; kalau "max_tokens", jawaban AI terpotong di tengah, jadi skrip langsung berhenti dan tidak memproses setengah jawaban (ini yang tadi dibahas di slide anatomi API). Lalu pesan dobel dilewati (Pak Andi). Pertanyaan masuk cek manual, bukan jadi order (Fajar). Produk harus ada di katalog kita, bukan karangan AI. Jumlah harus angka bulat positif, ini yang menangkap -1 dari Mira. Soal harga: ini sebenarnya aturan desain yang sudah berlaku sejak Babak 1, AI cuma membaca, urusan uang selalu diambil dari data kita sendiri. Terakhir, ralat menggantikan baris lama, bukan menambah order baru (Bu Rina dan Mira), dan tetap muncul di daftar cek manual untuk dikonfirmasi.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kredibilitas Anda. Ceritakan satu pengalaman nyata dari membangun sistem e-money dan pembayaran: saat sebuah edge case hampir bikin rugi uang sungguhan. Founder perlu cukup paham Python untuk membaca dan memverifikasi, bukan sekadar memberi prompt.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asli dari pekerjaan saya sendiri. Template upload ini dibuat oleh AI lewat skrip Python. Skripnya jalan tanpa error, header-nya lengkap, AI bilang filenya siap dipakai. Tapi begitu dibuka di Microsoft Excel biasa, filenya ditolak. Kalau dibongkar, ada timestamp yang tidak valid, plus dua masalah lain yang baru akan muncul saat masuk sistem upload. Semua ini tidak akan ketahuan kalau kita cuma percaya laporan AI. Ketahuannya justru dengan membaca beberapa baris kode Python yang membuatnya dan mencobanya dengan data asli. Itulah kemampuan "membaca dan memverifikasi" dari slide sebelumnya.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Hubungkan lagi ke demo: pengaman tadi sebenarnya adalah pemahaman lapangan yang diubah jadi kode. Semua orang bisa memakai AI yang sama. Tidak semua orang tahu apa saja yang bisa salah di pasarnya sendiri.</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Pelankan tempo di sini. Tiga kalimat ini yang semestinya diceritakan peserta ke co-founder mereka malam ini.</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sesi tanya jawab. Kalau suasana sepi, pancing dengan: "Satu pekerjaan di bisnis kalian yang besok mau diserahkan ke AI apa? Dan apa yang bisa salah?"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4181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18541"/>
            <a:ext cx="10566400" cy="754380"/>
          </a:xfrm>
          <a:prstGeom prst="rect">
            <a:avLst/>
          </a:prstGeom>
          <a:noFill/>
          <a:ln/>
        </p:spPr>
        <p:txBody>
          <a:bodyPr wrap="square" lIns="0" tIns="0" rIns="0" bIns="0" rtlCol="0" anchor="t"/>
          <a:lstStyle>
            <a:lvl1pPr marL="0" indent="0" algn="l">
              <a:lnSpc>
                <a:spcPct val="115000"/>
              </a:lnSpc>
              <a:buNone/>
              <a:defRPr lang="en-US" sz="3600" dirty="0">
                <a:solidFill>
                  <a:srgbClr val="F4F1EA"/>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077721"/>
            <a:ext cx="10566400" cy="3967479"/>
          </a:xfrm>
          <a:prstGeom prst="rect">
            <a:avLst/>
          </a:prstGeom>
          <a:noFill/>
          <a:ln/>
        </p:spPr>
        <p:txBody>
          <a:bodyPr wrap="square" lIns="0" tIns="0" rIns="0" bIns="0" rtlCol="0" anchor="t"/>
          <a:lstStyle>
            <a:lvl1pPr marL="0" indent="0" algn="l">
              <a:lnSpc>
                <a:spcPct val="140000"/>
              </a:lnSpc>
              <a:buNone/>
              <a:defRPr lang="en-US" sz="1600" dirty="0">
                <a:solidFill>
                  <a:srgbClr val="F4F1EA"/>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4181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18541"/>
            <a:ext cx="10566400" cy="754380"/>
          </a:xfrm>
          <a:prstGeom prst="rect">
            <a:avLst/>
          </a:prstGeom>
          <a:noFill/>
          <a:ln/>
        </p:spPr>
        <p:txBody>
          <a:bodyPr wrap="square" lIns="0" tIns="0" rIns="0" bIns="0" rtlCol="0" anchor="t"/>
          <a:lstStyle>
            <a:lvl1pPr marL="0" indent="0" algn="l">
              <a:lnSpc>
                <a:spcPct val="115000"/>
              </a:lnSpc>
              <a:buNone/>
              <a:defRPr lang="en-US" sz="3600" dirty="0">
                <a:solidFill>
                  <a:srgbClr val="F4F1EA"/>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077721"/>
            <a:ext cx="10566400" cy="3967479"/>
          </a:xfrm>
          <a:prstGeom prst="rect">
            <a:avLst/>
          </a:prstGeom>
          <a:noFill/>
          <a:ln/>
        </p:spPr>
        <p:txBody>
          <a:bodyPr wrap="square" lIns="0" tIns="0" rIns="0" bIns="0" rtlCol="0" anchor="t"/>
          <a:lstStyle>
            <a:lvl1pPr marL="0" indent="0" algn="l">
              <a:lnSpc>
                <a:spcPct val="140000"/>
              </a:lnSpc>
              <a:buNone/>
              <a:defRPr lang="en-US" sz="1600" dirty="0">
                <a:solidFill>
                  <a:srgbClr val="F4F1EA"/>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F"/>
        </a:solidFill>
        <a:effectLst/>
      </p:bgPr>
    </p:bg>
    <p:spTree>
      <p:nvGrpSpPr>
        <p:cNvPr id="1" name=""/>
        <p:cNvGrpSpPr/>
        <p:nvPr/>
      </p:nvGrpSpPr>
      <p:grpSpPr>
        <a:xfrm>
          <a:off x="0" y="0"/>
          <a:ext cx="0" cy="0"/>
          <a:chOff x="0" y="0"/>
          <a:chExt cx="0" cy="0"/>
        </a:xfrm>
      </p:grpSpPr>
      <p:sp>
        <p:nvSpPr>
          <p:cNvPr id="2" name="Text 0"/>
          <p:cNvSpPr/>
          <p:nvPr/>
        </p:nvSpPr>
        <p:spPr>
          <a:xfrm>
            <a:off x="812800" y="845820"/>
            <a:ext cx="263347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2A541"/>
                </a:solidFill>
                <a:latin typeface="JetBrains Mono" pitchFamily="49" charset="0"/>
                <a:ea typeface="JetBrains Mono" pitchFamily="49" charset="-122"/>
                <a:cs typeface="JetBrains Mono" pitchFamily="49" charset="-120"/>
              </a:rPr>
              <a:t>&gt;&gt;&gt; import founder</a:t>
            </a:r>
            <a:endParaRPr lang="en-US" sz="1600" dirty="0"/>
          </a:p>
        </p:txBody>
      </p:sp>
      <p:sp>
        <p:nvSpPr>
          <p:cNvPr id="3" name="Text 1"/>
          <p:cNvSpPr/>
          <p:nvPr/>
        </p:nvSpPr>
        <p:spPr>
          <a:xfrm>
            <a:off x="6976904" y="815975"/>
            <a:ext cx="4399121" cy="344170"/>
          </a:xfrm>
          <a:prstGeom prst="roundRect">
            <a:avLst>
              <a:gd name="adj" fmla="val 50000"/>
            </a:avLst>
          </a:prstGeom>
          <a:noFill/>
          <a:ln w="6350">
            <a:solidFill>
              <a:srgbClr val="2E3644"/>
            </a:solidFill>
            <a:prstDash val="solid"/>
          </a:ln>
        </p:spPr>
        <p:txBody>
          <a:bodyPr wrap="none" lIns="0" tIns="0" rIns="0" bIns="0" rtlCol="0" anchor="ctr">
            <a:normAutofit/>
          </a:bodyPr>
          <a:lstStyle/>
          <a:p>
            <a:pPr marL="0" indent="0" algn="ctr">
              <a:lnSpc>
                <a:spcPts val="1680"/>
              </a:lnSpc>
              <a:buNone/>
            </a:pPr>
            <a:r>
              <a:rPr lang="en-US" sz="1200" dirty="0">
                <a:solidFill>
                  <a:srgbClr val="B9B4A8"/>
                </a:solidFill>
                <a:latin typeface="Space Grotesk" pitchFamily="34" charset="0"/>
                <a:ea typeface="Space Grotesk" pitchFamily="34" charset="-122"/>
                <a:cs typeface="Space Grotesk" pitchFamily="34" charset="-120"/>
              </a:rPr>
              <a:t>Presentasi ini </a:t>
            </a:r>
            <a:r>
              <a:rPr lang="en-US" sz="1200" b="1" dirty="0">
                <a:solidFill>
                  <a:srgbClr val="F2A541"/>
                </a:solidFill>
                <a:latin typeface="Space Grotesk" pitchFamily="34" charset="0"/>
                <a:ea typeface="Space Grotesk" pitchFamily="34" charset="-122"/>
                <a:cs typeface="Space Grotesk" pitchFamily="34" charset="-120"/>
              </a:rPr>
              <a:t>(TIDAK)</a:t>
            </a:r>
            <a:r>
              <a:rPr lang="en-US" sz="1200" dirty="0">
                <a:solidFill>
                  <a:srgbClr val="B9B4A8"/>
                </a:solidFill>
                <a:latin typeface="Space Grotesk" pitchFamily="34" charset="0"/>
                <a:ea typeface="Space Grotesk" pitchFamily="34" charset="-122"/>
                <a:cs typeface="Space Grotesk" pitchFamily="34" charset="-120"/>
              </a:rPr>
              <a:t> disponsori oleh Claude &amp; JetBrains</a:t>
            </a:r>
            <a:endParaRPr lang="en-US" sz="1200" dirty="0"/>
          </a:p>
        </p:txBody>
      </p:sp>
      <p:sp>
        <p:nvSpPr>
          <p:cNvPr id="4" name="Text 2"/>
          <p:cNvSpPr>
            <a:spLocks noGrp="1"/>
          </p:cNvSpPr>
          <p:nvPr>
            <p:ph type="title"/>
          </p:nvPr>
        </p:nvSpPr>
        <p:spPr>
          <a:xfrm>
            <a:off x="812800" y="203200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i="0" kern="0" spc="-100" dirty="0">
                <a:solidFill>
                  <a:srgbClr val="F4F1EA"/>
                </a:solidFill>
                <a:latin typeface="Space Grotesk" pitchFamily="34" charset="0"/>
                <a:ea typeface="Space Grotesk" pitchFamily="34" charset="-122"/>
                <a:cs typeface="Space Grotesk" pitchFamily="34" charset="-120"/>
              </a:rPr>
              <a:t>AI tidak akan menggantikan founder.</a:t>
            </a:r>
            <a:endParaRPr lang="en-US" sz="6000" dirty="0"/>
          </a:p>
        </p:txBody>
      </p:sp>
      <p:sp>
        <p:nvSpPr>
          <p:cNvPr id="5" name="Text 3"/>
          <p:cNvSpPr/>
          <p:nvPr/>
        </p:nvSpPr>
        <p:spPr>
          <a:xfrm>
            <a:off x="812800" y="3886200"/>
            <a:ext cx="10883392" cy="103124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F2A541"/>
                </a:solidFill>
                <a:latin typeface="Space Grotesk" pitchFamily="34" charset="0"/>
                <a:ea typeface="Space Grotesk" pitchFamily="34" charset="-122"/>
                <a:cs typeface="Space Grotesk" pitchFamily="34" charset="-120"/>
              </a:rPr>
              <a:t>Yang tersingkir adalah founder yang tidak bisa mengendalikannya.</a:t>
            </a:r>
            <a:endParaRPr lang="en-US" sz="3600" dirty="0"/>
          </a:p>
        </p:txBody>
      </p:sp>
      <p:sp>
        <p:nvSpPr>
          <p:cNvPr id="6" name="Text 4"/>
          <p:cNvSpPr/>
          <p:nvPr/>
        </p:nvSpPr>
        <p:spPr>
          <a:xfrm>
            <a:off x="812800" y="576072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4A8"/>
                </a:solidFill>
                <a:latin typeface="Space Grotesk" pitchFamily="34" charset="0"/>
                <a:ea typeface="Space Grotesk" pitchFamily="34" charset="-122"/>
                <a:cs typeface="Space Grotesk" pitchFamily="34" charset="-120"/>
              </a:rPr>
              <a:t>Septian · Software Engineer · Kelas Beta Makassar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193421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2F6E9E"/>
                </a:solidFill>
                <a:latin typeface="Space Grotesk" pitchFamily="34" charset="0"/>
                <a:ea typeface="Space Grotesk" pitchFamily="34" charset="-122"/>
                <a:cs typeface="Space Grotesk" pitchFamily="34" charset="-120"/>
              </a:rPr>
              <a:t>ANGKAT TANGAN DULU</a:t>
            </a:r>
            <a:endParaRPr lang="en-US" sz="1600" dirty="0"/>
          </a:p>
        </p:txBody>
      </p:sp>
      <p:sp>
        <p:nvSpPr>
          <p:cNvPr id="3" name="Text 1"/>
          <p:cNvSpPr>
            <a:spLocks noGrp="1"/>
          </p:cNvSpPr>
          <p:nvPr>
            <p:ph type="title"/>
          </p:nvPr>
        </p:nvSpPr>
        <p:spPr>
          <a:xfrm>
            <a:off x="812800" y="2523490"/>
            <a:ext cx="10883392" cy="2425700"/>
          </a:xfrm>
          <a:prstGeom prst="rect">
            <a:avLst/>
          </a:prstGeom>
          <a:noFill/>
          <a:ln/>
        </p:spPr>
        <p:txBody>
          <a:bodyPr wrap="square" lIns="0" tIns="0" rIns="0" bIns="0" rtlCol="0" anchor="t">
            <a:normAutofit/>
          </a:bodyPr>
          <a:lstStyle/>
          <a:p>
            <a:pPr marL="0" indent="0" algn="l">
              <a:lnSpc>
                <a:spcPts val="6300"/>
              </a:lnSpc>
              <a:buNone/>
            </a:pPr>
            <a:r>
              <a:rPr lang="en-US" sz="6000" b="1" i="0" kern="0" spc="-100" dirty="0">
                <a:solidFill>
                  <a:srgbClr val="1B1F27"/>
                </a:solidFill>
                <a:latin typeface="Space Grotesk" pitchFamily="34" charset="0"/>
                <a:ea typeface="Space Grotesk" pitchFamily="34" charset="-122"/>
                <a:cs typeface="Space Grotesk" pitchFamily="34" charset="-120"/>
              </a:rPr>
              <a:t>Siapa yang yakin AI bakal mengambil alih pekerjaan karyawanmu nanti?</a:t>
            </a:r>
            <a:endParaRPr lang="en-US" sz="6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2F6E9E"/>
                </a:solidFill>
                <a:latin typeface="Space Grotesk" pitchFamily="34" charset="0"/>
                <a:ea typeface="Space Grotesk" pitchFamily="34" charset="-122"/>
                <a:cs typeface="Space Grotesk" pitchFamily="34" charset="-120"/>
              </a:rPr>
              <a:t>POLLING SLIDO · [KODE ACARA]</a:t>
            </a:r>
            <a:endParaRPr lang="en-US" sz="1600" dirty="0"/>
          </a:p>
        </p:txBody>
      </p:sp>
      <p:sp>
        <p:nvSpPr>
          <p:cNvPr id="3" name="Text 1"/>
          <p:cNvSpPr>
            <a:spLocks noGrp="1"/>
          </p:cNvSpPr>
          <p:nvPr>
            <p:ph type="title"/>
          </p:nvPr>
        </p:nvSpPr>
        <p:spPr>
          <a:xfrm>
            <a:off x="812800" y="1224280"/>
            <a:ext cx="10883392"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B1F27"/>
                </a:solidFill>
                <a:latin typeface="Space Grotesk" pitchFamily="34" charset="0"/>
                <a:ea typeface="Space Grotesk" pitchFamily="34" charset="-122"/>
                <a:cs typeface="Space Grotesk" pitchFamily="34" charset="-120"/>
              </a:rPr>
              <a:t>Bisakah AI melakukan ini dalam 2 tahun ke depan?</a:t>
            </a:r>
            <a:endParaRPr lang="en-US" sz="3600" dirty="0"/>
          </a:p>
        </p:txBody>
      </p:sp>
      <p:sp>
        <p:nvSpPr>
          <p:cNvPr id="4" name="Shape 2"/>
          <p:cNvSpPr/>
          <p:nvPr/>
        </p:nvSpPr>
        <p:spPr>
          <a:xfrm>
            <a:off x="815975" y="2436495"/>
            <a:ext cx="3414157" cy="1156970"/>
          </a:xfrm>
          <a:prstGeom prst="roundRect">
            <a:avLst>
              <a:gd name="adj" fmla="val 10703"/>
            </a:avLst>
          </a:prstGeom>
          <a:solidFill>
            <a:srgbClr val="FFFDF8"/>
          </a:solidFill>
          <a:ln w="6350">
            <a:solidFill>
              <a:srgbClr val="E2DCCD"/>
            </a:solidFill>
            <a:prstDash val="solid"/>
          </a:ln>
        </p:spPr>
      </p:sp>
      <p:sp>
        <p:nvSpPr>
          <p:cNvPr id="5" name="Text 3"/>
          <p:cNvSpPr/>
          <p:nvPr/>
        </p:nvSpPr>
        <p:spPr>
          <a:xfrm>
            <a:off x="1021080" y="2616200"/>
            <a:ext cx="3094065"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F6E9E"/>
                </a:solidFill>
                <a:latin typeface="JetBrains Mono" pitchFamily="49" charset="0"/>
                <a:ea typeface="JetBrains Mono" pitchFamily="49" charset="-122"/>
                <a:cs typeface="JetBrains Mono" pitchFamily="49" charset="-120"/>
              </a:rPr>
              <a:t>01</a:t>
            </a:r>
            <a:endParaRPr lang="en-US" sz="1400" dirty="0"/>
          </a:p>
        </p:txBody>
      </p:sp>
      <p:sp>
        <p:nvSpPr>
          <p:cNvPr id="6" name="Text 4"/>
          <p:cNvSpPr/>
          <p:nvPr/>
        </p:nvSpPr>
        <p:spPr>
          <a:xfrm>
            <a:off x="1021080" y="2915920"/>
            <a:ext cx="309406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F27"/>
                </a:solidFill>
                <a:latin typeface="Space Grotesk" pitchFamily="34" charset="0"/>
                <a:ea typeface="Space Grotesk" pitchFamily="34" charset="-122"/>
                <a:cs typeface="Space Grotesk" pitchFamily="34" charset="-120"/>
              </a:rPr>
              <a:t>Membalas chat pelanggan yang tanya harga dan stok</a:t>
            </a:r>
            <a:endParaRPr lang="en-US" sz="1400" dirty="0"/>
          </a:p>
        </p:txBody>
      </p:sp>
      <p:sp>
        <p:nvSpPr>
          <p:cNvPr id="7" name="Shape 5"/>
          <p:cNvSpPr/>
          <p:nvPr/>
        </p:nvSpPr>
        <p:spPr>
          <a:xfrm>
            <a:off x="4388882" y="2436495"/>
            <a:ext cx="3414157" cy="1156970"/>
          </a:xfrm>
          <a:prstGeom prst="roundRect">
            <a:avLst>
              <a:gd name="adj" fmla="val 10703"/>
            </a:avLst>
          </a:prstGeom>
          <a:solidFill>
            <a:srgbClr val="FFFDF8"/>
          </a:solidFill>
          <a:ln w="6350">
            <a:solidFill>
              <a:srgbClr val="E2DCCD"/>
            </a:solidFill>
            <a:prstDash val="solid"/>
          </a:ln>
        </p:spPr>
      </p:sp>
      <p:sp>
        <p:nvSpPr>
          <p:cNvPr id="8" name="Text 6"/>
          <p:cNvSpPr/>
          <p:nvPr/>
        </p:nvSpPr>
        <p:spPr>
          <a:xfrm>
            <a:off x="4593987" y="2616200"/>
            <a:ext cx="3094065"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F6E9E"/>
                </a:solidFill>
                <a:latin typeface="JetBrains Mono" pitchFamily="49" charset="0"/>
                <a:ea typeface="JetBrains Mono" pitchFamily="49" charset="-122"/>
                <a:cs typeface="JetBrains Mono" pitchFamily="49" charset="-120"/>
              </a:rPr>
              <a:t>02</a:t>
            </a:r>
            <a:endParaRPr lang="en-US" sz="1400" dirty="0"/>
          </a:p>
        </p:txBody>
      </p:sp>
      <p:sp>
        <p:nvSpPr>
          <p:cNvPr id="9" name="Text 7"/>
          <p:cNvSpPr/>
          <p:nvPr/>
        </p:nvSpPr>
        <p:spPr>
          <a:xfrm>
            <a:off x="4593987" y="2915920"/>
            <a:ext cx="309406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F27"/>
                </a:solidFill>
                <a:latin typeface="Space Grotesk" pitchFamily="34" charset="0"/>
                <a:ea typeface="Space Grotesk" pitchFamily="34" charset="-122"/>
                <a:cs typeface="Space Grotesk" pitchFamily="34" charset="-120"/>
              </a:rPr>
              <a:t>Merekap pesanan WhatsApp jadi laporan penjualan harian</a:t>
            </a:r>
            <a:endParaRPr lang="en-US" sz="1400" dirty="0"/>
          </a:p>
        </p:txBody>
      </p:sp>
      <p:sp>
        <p:nvSpPr>
          <p:cNvPr id="10" name="Shape 8"/>
          <p:cNvSpPr/>
          <p:nvPr/>
        </p:nvSpPr>
        <p:spPr>
          <a:xfrm>
            <a:off x="7961789" y="2436495"/>
            <a:ext cx="3414157" cy="1156970"/>
          </a:xfrm>
          <a:prstGeom prst="roundRect">
            <a:avLst>
              <a:gd name="adj" fmla="val 10703"/>
            </a:avLst>
          </a:prstGeom>
          <a:solidFill>
            <a:srgbClr val="FFFDF8"/>
          </a:solidFill>
          <a:ln w="6350">
            <a:solidFill>
              <a:srgbClr val="E2DCCD"/>
            </a:solidFill>
            <a:prstDash val="solid"/>
          </a:ln>
        </p:spPr>
      </p:sp>
      <p:sp>
        <p:nvSpPr>
          <p:cNvPr id="11" name="Text 9"/>
          <p:cNvSpPr/>
          <p:nvPr/>
        </p:nvSpPr>
        <p:spPr>
          <a:xfrm>
            <a:off x="8166894" y="2616200"/>
            <a:ext cx="3094065"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F6E9E"/>
                </a:solidFill>
                <a:latin typeface="JetBrains Mono" pitchFamily="49" charset="0"/>
                <a:ea typeface="JetBrains Mono" pitchFamily="49" charset="-122"/>
                <a:cs typeface="JetBrains Mono" pitchFamily="49" charset="-120"/>
              </a:rPr>
              <a:t>03</a:t>
            </a:r>
            <a:endParaRPr lang="en-US" sz="1400" dirty="0"/>
          </a:p>
        </p:txBody>
      </p:sp>
      <p:sp>
        <p:nvSpPr>
          <p:cNvPr id="12" name="Text 10"/>
          <p:cNvSpPr/>
          <p:nvPr/>
        </p:nvSpPr>
        <p:spPr>
          <a:xfrm>
            <a:off x="8166894" y="2915920"/>
            <a:ext cx="309406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F27"/>
                </a:solidFill>
                <a:latin typeface="Space Grotesk" pitchFamily="34" charset="0"/>
                <a:ea typeface="Space Grotesk" pitchFamily="34" charset="-122"/>
                <a:cs typeface="Space Grotesk" pitchFamily="34" charset="-120"/>
              </a:rPr>
              <a:t>Membuat caption dan desain promosi Instagram</a:t>
            </a:r>
            <a:endParaRPr lang="en-US" sz="1400" dirty="0"/>
          </a:p>
        </p:txBody>
      </p:sp>
      <p:sp>
        <p:nvSpPr>
          <p:cNvPr id="13" name="Shape 11"/>
          <p:cNvSpPr/>
          <p:nvPr/>
        </p:nvSpPr>
        <p:spPr>
          <a:xfrm>
            <a:off x="815975" y="3752216"/>
            <a:ext cx="3414157" cy="1156970"/>
          </a:xfrm>
          <a:prstGeom prst="roundRect">
            <a:avLst>
              <a:gd name="adj" fmla="val 10703"/>
            </a:avLst>
          </a:prstGeom>
          <a:solidFill>
            <a:srgbClr val="FFFDF8"/>
          </a:solidFill>
          <a:ln w="6350">
            <a:solidFill>
              <a:srgbClr val="E2DCCD"/>
            </a:solidFill>
            <a:prstDash val="solid"/>
          </a:ln>
        </p:spPr>
      </p:sp>
      <p:sp>
        <p:nvSpPr>
          <p:cNvPr id="14" name="Text 12"/>
          <p:cNvSpPr/>
          <p:nvPr/>
        </p:nvSpPr>
        <p:spPr>
          <a:xfrm>
            <a:off x="1021080" y="3931920"/>
            <a:ext cx="3094065"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F6E9E"/>
                </a:solidFill>
                <a:latin typeface="JetBrains Mono" pitchFamily="49" charset="0"/>
                <a:ea typeface="JetBrains Mono" pitchFamily="49" charset="-122"/>
                <a:cs typeface="JetBrains Mono" pitchFamily="49" charset="-120"/>
              </a:rPr>
              <a:t>04</a:t>
            </a:r>
            <a:endParaRPr lang="en-US" sz="1400" dirty="0"/>
          </a:p>
        </p:txBody>
      </p:sp>
      <p:sp>
        <p:nvSpPr>
          <p:cNvPr id="15" name="Text 13"/>
          <p:cNvSpPr/>
          <p:nvPr/>
        </p:nvSpPr>
        <p:spPr>
          <a:xfrm>
            <a:off x="1021080" y="4231641"/>
            <a:ext cx="309406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F27"/>
                </a:solidFill>
                <a:latin typeface="Space Grotesk" pitchFamily="34" charset="0"/>
                <a:ea typeface="Space Grotesk" pitchFamily="34" charset="-122"/>
                <a:cs typeface="Space Grotesk" pitchFamily="34" charset="-120"/>
              </a:rPr>
              <a:t>Menghitung gaji dan pajak karyawan</a:t>
            </a:r>
            <a:endParaRPr lang="en-US" sz="1400" dirty="0"/>
          </a:p>
        </p:txBody>
      </p:sp>
      <p:sp>
        <p:nvSpPr>
          <p:cNvPr id="16" name="Shape 14"/>
          <p:cNvSpPr/>
          <p:nvPr/>
        </p:nvSpPr>
        <p:spPr>
          <a:xfrm>
            <a:off x="4388882" y="3752216"/>
            <a:ext cx="3414157" cy="1156970"/>
          </a:xfrm>
          <a:prstGeom prst="roundRect">
            <a:avLst>
              <a:gd name="adj" fmla="val 10703"/>
            </a:avLst>
          </a:prstGeom>
          <a:solidFill>
            <a:srgbClr val="FFFDF8"/>
          </a:solidFill>
          <a:ln w="6350">
            <a:solidFill>
              <a:srgbClr val="E2DCCD"/>
            </a:solidFill>
            <a:prstDash val="solid"/>
          </a:ln>
        </p:spPr>
      </p:sp>
      <p:sp>
        <p:nvSpPr>
          <p:cNvPr id="17" name="Text 15"/>
          <p:cNvSpPr/>
          <p:nvPr/>
        </p:nvSpPr>
        <p:spPr>
          <a:xfrm>
            <a:off x="4593987" y="3931920"/>
            <a:ext cx="3094065"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F6E9E"/>
                </a:solidFill>
                <a:latin typeface="JetBrains Mono" pitchFamily="49" charset="0"/>
                <a:ea typeface="JetBrains Mono" pitchFamily="49" charset="-122"/>
                <a:cs typeface="JetBrains Mono" pitchFamily="49" charset="-120"/>
              </a:rPr>
              <a:t>05</a:t>
            </a:r>
            <a:endParaRPr lang="en-US" sz="1400" dirty="0"/>
          </a:p>
        </p:txBody>
      </p:sp>
      <p:sp>
        <p:nvSpPr>
          <p:cNvPr id="18" name="Text 16"/>
          <p:cNvSpPr/>
          <p:nvPr/>
        </p:nvSpPr>
        <p:spPr>
          <a:xfrm>
            <a:off x="4593987" y="4231641"/>
            <a:ext cx="309406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F27"/>
                </a:solidFill>
                <a:latin typeface="Space Grotesk" pitchFamily="34" charset="0"/>
                <a:ea typeface="Space Grotesk" pitchFamily="34" charset="-122"/>
                <a:cs typeface="Space Grotesk" pitchFamily="34" charset="-120"/>
              </a:rPr>
              <a:t>Menagih pelanggan yang telat bayar</a:t>
            </a:r>
            <a:endParaRPr lang="en-US" sz="1400" dirty="0"/>
          </a:p>
        </p:txBody>
      </p:sp>
      <p:sp>
        <p:nvSpPr>
          <p:cNvPr id="19" name="Shape 17"/>
          <p:cNvSpPr/>
          <p:nvPr/>
        </p:nvSpPr>
        <p:spPr>
          <a:xfrm>
            <a:off x="7961789" y="3752216"/>
            <a:ext cx="3414157" cy="1156970"/>
          </a:xfrm>
          <a:prstGeom prst="roundRect">
            <a:avLst>
              <a:gd name="adj" fmla="val 10703"/>
            </a:avLst>
          </a:prstGeom>
          <a:solidFill>
            <a:srgbClr val="14181F"/>
          </a:solidFill>
          <a:ln w="6350">
            <a:solidFill>
              <a:srgbClr val="14181F"/>
            </a:solidFill>
            <a:prstDash val="solid"/>
          </a:ln>
        </p:spPr>
      </p:sp>
      <p:sp>
        <p:nvSpPr>
          <p:cNvPr id="20" name="Text 18"/>
          <p:cNvSpPr/>
          <p:nvPr/>
        </p:nvSpPr>
        <p:spPr>
          <a:xfrm>
            <a:off x="8166894" y="3931920"/>
            <a:ext cx="3094065"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2A541"/>
                </a:solidFill>
                <a:latin typeface="JetBrains Mono" pitchFamily="49" charset="0"/>
                <a:ea typeface="JetBrains Mono" pitchFamily="49" charset="-122"/>
                <a:cs typeface="JetBrains Mono" pitchFamily="49" charset="-120"/>
              </a:rPr>
              <a:t>06</a:t>
            </a:r>
            <a:endParaRPr lang="en-US" sz="1400" dirty="0"/>
          </a:p>
        </p:txBody>
      </p:sp>
      <p:sp>
        <p:nvSpPr>
          <p:cNvPr id="21" name="Text 19"/>
          <p:cNvSpPr/>
          <p:nvPr/>
        </p:nvSpPr>
        <p:spPr>
          <a:xfrm>
            <a:off x="8166894" y="4231641"/>
            <a:ext cx="3094065"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4F1EA"/>
                </a:solidFill>
                <a:latin typeface="Space Grotesk" pitchFamily="34" charset="0"/>
                <a:ea typeface="Space Grotesk" pitchFamily="34" charset="-122"/>
                <a:cs typeface="Space Grotesk" pitchFamily="34" charset="-120"/>
              </a:rPr>
              <a:t>Membuat produk baru</a:t>
            </a:r>
            <a:endParaRPr lang="en-US" sz="1400" dirty="0"/>
          </a:p>
        </p:txBody>
      </p:sp>
      <p:sp>
        <p:nvSpPr>
          <p:cNvPr id="22" name="Text 20"/>
          <p:cNvSpPr/>
          <p:nvPr/>
        </p:nvSpPr>
        <p:spPr>
          <a:xfrm>
            <a:off x="815975" y="5118736"/>
            <a:ext cx="1925161" cy="361950"/>
          </a:xfrm>
          <a:prstGeom prst="roundRect">
            <a:avLst>
              <a:gd name="adj" fmla="val 50000"/>
            </a:avLst>
          </a:prstGeom>
          <a:solidFill>
            <a:srgbClr val="FFFDF8"/>
          </a:solidFill>
          <a:ln w="6350">
            <a:solidFill>
              <a:srgbClr val="E2DCCD"/>
            </a:solidFill>
            <a:prstDash val="solid"/>
          </a:ln>
        </p:spPr>
        <p:txBody>
          <a:bodyPr wrap="none" lIns="0" tIns="0" rIns="0" bIns="0" rtlCol="0" anchor="ctr">
            <a:normAutofit/>
          </a:bodyPr>
          <a:lstStyle/>
          <a:p>
            <a:pPr marL="0" indent="0" algn="ctr">
              <a:lnSpc>
                <a:spcPts val="1820"/>
              </a:lnSpc>
              <a:buNone/>
            </a:pPr>
            <a:r>
              <a:rPr lang="en-US" sz="1300" b="1" dirty="0">
                <a:solidFill>
                  <a:srgbClr val="1B1F27"/>
                </a:solidFill>
                <a:latin typeface="Space Grotesk" pitchFamily="34" charset="0"/>
                <a:ea typeface="Space Grotesk" pitchFamily="34" charset="-122"/>
                <a:cs typeface="Space Grotesk" pitchFamily="34" charset="-120"/>
              </a:rPr>
              <a:t>A</a:t>
            </a:r>
            <a:r>
              <a:rPr lang="en-US" sz="1300" dirty="0">
                <a:solidFill>
                  <a:srgbClr val="1B1F27"/>
                </a:solidFill>
                <a:latin typeface="Space Grotesk" pitchFamily="34" charset="0"/>
                <a:ea typeface="Space Grotesk" pitchFamily="34" charset="-122"/>
                <a:cs typeface="Space Grotesk" pitchFamily="34" charset="-120"/>
              </a:rPr>
              <a:t> · Bisa, sepenuhnya</a:t>
            </a:r>
            <a:endParaRPr lang="en-US" sz="1300" dirty="0"/>
          </a:p>
        </p:txBody>
      </p:sp>
      <p:sp>
        <p:nvSpPr>
          <p:cNvPr id="23" name="Text 21"/>
          <p:cNvSpPr/>
          <p:nvPr/>
        </p:nvSpPr>
        <p:spPr>
          <a:xfrm>
            <a:off x="2849086" y="5118736"/>
            <a:ext cx="3374628" cy="361950"/>
          </a:xfrm>
          <a:prstGeom prst="roundRect">
            <a:avLst>
              <a:gd name="adj" fmla="val 50000"/>
            </a:avLst>
          </a:prstGeom>
          <a:solidFill>
            <a:srgbClr val="FFFDF8"/>
          </a:solidFill>
          <a:ln w="6350">
            <a:solidFill>
              <a:srgbClr val="E2DCCD"/>
            </a:solidFill>
            <a:prstDash val="solid"/>
          </a:ln>
        </p:spPr>
        <p:txBody>
          <a:bodyPr wrap="none" lIns="0" tIns="0" rIns="0" bIns="0" rtlCol="0" anchor="ctr">
            <a:normAutofit/>
          </a:bodyPr>
          <a:lstStyle/>
          <a:p>
            <a:pPr marL="0" indent="0" algn="ctr">
              <a:lnSpc>
                <a:spcPts val="1820"/>
              </a:lnSpc>
              <a:buNone/>
            </a:pPr>
            <a:r>
              <a:rPr lang="en-US" sz="1300" b="1" dirty="0">
                <a:solidFill>
                  <a:srgbClr val="1B1F27"/>
                </a:solidFill>
                <a:latin typeface="Space Grotesk" pitchFamily="34" charset="0"/>
                <a:ea typeface="Space Grotesk" pitchFamily="34" charset="-122"/>
                <a:cs typeface="Space Grotesk" pitchFamily="34" charset="-120"/>
              </a:rPr>
              <a:t>B</a:t>
            </a:r>
            <a:r>
              <a:rPr lang="en-US" sz="1300" dirty="0">
                <a:solidFill>
                  <a:srgbClr val="1B1F27"/>
                </a:solidFill>
                <a:latin typeface="Space Grotesk" pitchFamily="34" charset="0"/>
                <a:ea typeface="Space Grotesk" pitchFamily="34" charset="-122"/>
                <a:cs typeface="Space Grotesk" pitchFamily="34" charset="-120"/>
              </a:rPr>
              <a:t> · Bisa, tapi tetap perlu dicek manusia</a:t>
            </a:r>
            <a:endParaRPr lang="en-US" sz="1300" dirty="0"/>
          </a:p>
        </p:txBody>
      </p:sp>
      <p:sp>
        <p:nvSpPr>
          <p:cNvPr id="24" name="Text 22"/>
          <p:cNvSpPr/>
          <p:nvPr/>
        </p:nvSpPr>
        <p:spPr>
          <a:xfrm>
            <a:off x="6331664" y="5118736"/>
            <a:ext cx="1323102" cy="361950"/>
          </a:xfrm>
          <a:prstGeom prst="roundRect">
            <a:avLst>
              <a:gd name="adj" fmla="val 50000"/>
            </a:avLst>
          </a:prstGeom>
          <a:solidFill>
            <a:srgbClr val="FFFDF8"/>
          </a:solidFill>
          <a:ln w="6350">
            <a:solidFill>
              <a:srgbClr val="E2DCCD"/>
            </a:solidFill>
            <a:prstDash val="solid"/>
          </a:ln>
        </p:spPr>
        <p:txBody>
          <a:bodyPr wrap="none" lIns="0" tIns="0" rIns="0" bIns="0" rtlCol="0" anchor="ctr">
            <a:normAutofit/>
          </a:bodyPr>
          <a:lstStyle/>
          <a:p>
            <a:pPr marL="0" indent="0" algn="ctr">
              <a:lnSpc>
                <a:spcPts val="1820"/>
              </a:lnSpc>
              <a:buNone/>
            </a:pPr>
            <a:r>
              <a:rPr lang="en-US" sz="1300" b="1" dirty="0">
                <a:solidFill>
                  <a:srgbClr val="1B1F27"/>
                </a:solidFill>
                <a:latin typeface="Space Grotesk" pitchFamily="34" charset="0"/>
                <a:ea typeface="Space Grotesk" pitchFamily="34" charset="-122"/>
                <a:cs typeface="Space Grotesk" pitchFamily="34" charset="-120"/>
              </a:rPr>
              <a:t>C</a:t>
            </a:r>
            <a:r>
              <a:rPr lang="en-US" sz="1300" dirty="0">
                <a:solidFill>
                  <a:srgbClr val="1B1F27"/>
                </a:solidFill>
                <a:latin typeface="Space Grotesk" pitchFamily="34" charset="0"/>
                <a:ea typeface="Space Grotesk" pitchFamily="34" charset="-122"/>
                <a:cs typeface="Space Grotesk" pitchFamily="34" charset="-120"/>
              </a:rPr>
              <a:t> · Tidak bisa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418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AI yang kamu pakai, dipakai juga oleh kompetitormu.</a:t>
            </a:r>
            <a:endParaRPr lang="en-US" sz="3600" dirty="0"/>
          </a:p>
        </p:txBody>
      </p:sp>
      <p:sp>
        <p:nvSpPr>
          <p:cNvPr id="3" name="Shape 1"/>
          <p:cNvSpPr/>
          <p:nvPr/>
        </p:nvSpPr>
        <p:spPr>
          <a:xfrm>
            <a:off x="815975" y="2380616"/>
            <a:ext cx="5119370" cy="2767330"/>
          </a:xfrm>
          <a:prstGeom prst="roundRect">
            <a:avLst>
              <a:gd name="adj" fmla="val 5392"/>
            </a:avLst>
          </a:prstGeom>
          <a:solidFill>
            <a:srgbClr val="1E2430"/>
          </a:solidFill>
          <a:ln w="6350">
            <a:solidFill>
              <a:srgbClr val="2E3644"/>
            </a:solidFill>
            <a:prstDash val="solid"/>
          </a:ln>
        </p:spPr>
      </p:sp>
      <p:sp>
        <p:nvSpPr>
          <p:cNvPr id="4" name="Text 2"/>
          <p:cNvSpPr/>
          <p:nvPr/>
        </p:nvSpPr>
        <p:spPr>
          <a:xfrm>
            <a:off x="1173480" y="2738120"/>
            <a:ext cx="4536491"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4A8"/>
                </a:solidFill>
                <a:latin typeface="Space Grotesk" pitchFamily="34" charset="0"/>
                <a:ea typeface="Space Grotesk" pitchFamily="34" charset="-122"/>
                <a:cs typeface="Space Grotesk" pitchFamily="34" charset="-120"/>
              </a:rPr>
              <a:t>Perusahaan zaman dulu</a:t>
            </a:r>
            <a:endParaRPr lang="en-US" sz="1600" dirty="0"/>
          </a:p>
        </p:txBody>
      </p:sp>
      <p:sp>
        <p:nvSpPr>
          <p:cNvPr id="5" name="Text 3"/>
          <p:cNvSpPr/>
          <p:nvPr/>
        </p:nvSpPr>
        <p:spPr>
          <a:xfrm>
            <a:off x="1173480" y="3124200"/>
            <a:ext cx="4536491"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6B7280"/>
                </a:solidFill>
                <a:latin typeface="Space Grotesk" pitchFamily="34" charset="0"/>
                <a:ea typeface="Space Grotesk" pitchFamily="34" charset="-122"/>
                <a:cs typeface="Space Grotesk" pitchFamily="34" charset="-120"/>
              </a:rPr>
              <a:t>50</a:t>
            </a:r>
            <a:endParaRPr lang="en-US" sz="10000" dirty="0"/>
          </a:p>
        </p:txBody>
      </p:sp>
      <p:sp>
        <p:nvSpPr>
          <p:cNvPr id="6" name="Text 4"/>
          <p:cNvSpPr/>
          <p:nvPr/>
        </p:nvSpPr>
        <p:spPr>
          <a:xfrm>
            <a:off x="1173480" y="4495800"/>
            <a:ext cx="4536491"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4A8"/>
                </a:solidFill>
                <a:latin typeface="Space Grotesk" pitchFamily="34" charset="0"/>
                <a:ea typeface="Space Grotesk" pitchFamily="34" charset="-122"/>
                <a:cs typeface="Space Grotesk" pitchFamily="34" charset="-120"/>
              </a:rPr>
              <a:t>orang untuk menjalankannya</a:t>
            </a:r>
            <a:endParaRPr lang="en-US" sz="1600" dirty="0"/>
          </a:p>
        </p:txBody>
      </p:sp>
      <p:sp>
        <p:nvSpPr>
          <p:cNvPr id="7" name="Shape 5"/>
          <p:cNvSpPr/>
          <p:nvPr/>
        </p:nvSpPr>
        <p:spPr>
          <a:xfrm>
            <a:off x="6249670" y="2383791"/>
            <a:ext cx="5123180" cy="2760980"/>
          </a:xfrm>
          <a:prstGeom prst="roundRect">
            <a:avLst>
              <a:gd name="adj" fmla="val 5290"/>
            </a:avLst>
          </a:prstGeom>
          <a:solidFill>
            <a:srgbClr val="1E2430"/>
          </a:solidFill>
          <a:ln w="12700">
            <a:solidFill>
              <a:srgbClr val="F2A541"/>
            </a:solidFill>
            <a:prstDash val="solid"/>
          </a:ln>
        </p:spPr>
      </p:sp>
      <p:sp>
        <p:nvSpPr>
          <p:cNvPr id="8" name="Text 6"/>
          <p:cNvSpPr/>
          <p:nvPr/>
        </p:nvSpPr>
        <p:spPr>
          <a:xfrm>
            <a:off x="6609080" y="2743200"/>
            <a:ext cx="4536491"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2A541"/>
                </a:solidFill>
                <a:latin typeface="Space Grotesk" pitchFamily="34" charset="0"/>
                <a:ea typeface="Space Grotesk" pitchFamily="34" charset="-122"/>
                <a:cs typeface="Space Grotesk" pitchFamily="34" charset="-120"/>
              </a:rPr>
              <a:t>Perusahaan masa depan</a:t>
            </a:r>
            <a:endParaRPr lang="en-US" sz="1600" dirty="0"/>
          </a:p>
        </p:txBody>
      </p:sp>
      <p:sp>
        <p:nvSpPr>
          <p:cNvPr id="9" name="Text 7"/>
          <p:cNvSpPr/>
          <p:nvPr/>
        </p:nvSpPr>
        <p:spPr>
          <a:xfrm>
            <a:off x="6609080" y="3129280"/>
            <a:ext cx="4536491"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F2A541"/>
                </a:solidFill>
                <a:latin typeface="Space Grotesk" pitchFamily="34" charset="0"/>
                <a:ea typeface="Space Grotesk" pitchFamily="34" charset="-122"/>
                <a:cs typeface="Space Grotesk" pitchFamily="34" charset="-120"/>
              </a:rPr>
              <a:t>5</a:t>
            </a:r>
            <a:endParaRPr lang="en-US" sz="10000" dirty="0"/>
          </a:p>
        </p:txBody>
      </p:sp>
      <p:sp>
        <p:nvSpPr>
          <p:cNvPr id="10" name="Text 8"/>
          <p:cNvSpPr/>
          <p:nvPr/>
        </p:nvSpPr>
        <p:spPr>
          <a:xfrm>
            <a:off x="6609080" y="4500880"/>
            <a:ext cx="4536491"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9E4D8"/>
                </a:solidFill>
                <a:latin typeface="Space Grotesk" pitchFamily="34" charset="0"/>
                <a:ea typeface="Space Grotesk" pitchFamily="34" charset="-122"/>
                <a:cs typeface="Space Grotesk" pitchFamily="34" charset="-120"/>
              </a:rPr>
              <a:t>orang untuk bisnis yang sama</a:t>
            </a:r>
            <a:endParaRPr lang="en-US" sz="1600" dirty="0"/>
          </a:p>
        </p:txBody>
      </p:sp>
      <p:sp>
        <p:nvSpPr>
          <p:cNvPr id="11" name="Text 9"/>
          <p:cNvSpPr/>
          <p:nvPr/>
        </p:nvSpPr>
        <p:spPr>
          <a:xfrm>
            <a:off x="812800" y="5709920"/>
            <a:ext cx="10883392" cy="36068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E9E4D8"/>
                </a:solidFill>
                <a:latin typeface="Space Grotesk" pitchFamily="34" charset="0"/>
                <a:ea typeface="Space Grotesk" pitchFamily="34" charset="-122"/>
                <a:cs typeface="Space Grotesk" pitchFamily="34" charset="-120"/>
              </a:rPr>
              <a:t>Pertanyaannya: </a:t>
            </a:r>
            <a:r>
              <a:rPr lang="en-US" sz="2200" b="1" dirty="0">
                <a:solidFill>
                  <a:srgbClr val="F2A541"/>
                </a:solidFill>
                <a:latin typeface="Space Grotesk" pitchFamily="34" charset="0"/>
                <a:ea typeface="Space Grotesk" pitchFamily="34" charset="-122"/>
                <a:cs typeface="Space Grotesk" pitchFamily="34" charset="-120"/>
              </a:rPr>
              <a:t>siapa yang duluan membangun perusahaan 5 orang itu?</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2F6E9E"/>
                </a:solidFill>
                <a:latin typeface="Space Grotesk" pitchFamily="34" charset="0"/>
                <a:ea typeface="Space Grotesk" pitchFamily="34" charset="-122"/>
                <a:cs typeface="Space Grotesk" pitchFamily="34" charset="-120"/>
              </a:rPr>
              <a:t>YANG BERUBAH</a:t>
            </a:r>
            <a:endParaRPr lang="en-US" sz="1600" dirty="0"/>
          </a:p>
        </p:txBody>
      </p:sp>
      <p:sp>
        <p:nvSpPr>
          <p:cNvPr id="3" name="Text 1"/>
          <p:cNvSpPr>
            <a:spLocks noGrp="1"/>
          </p:cNvSpPr>
          <p:nvPr>
            <p:ph type="title"/>
          </p:nvPr>
        </p:nvSpPr>
        <p:spPr>
          <a:xfrm>
            <a:off x="812800" y="1249680"/>
            <a:ext cx="10883392"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B1F27"/>
                </a:solidFill>
                <a:latin typeface="Space Grotesk" pitchFamily="34" charset="0"/>
                <a:ea typeface="Space Grotesk" pitchFamily="34" charset="-122"/>
                <a:cs typeface="Space Grotesk" pitchFamily="34" charset="-120"/>
              </a:rPr>
              <a:t>Mengerjakan jadi murah. Mengarahkan jadi langka.</a:t>
            </a:r>
            <a:endParaRPr lang="en-US" sz="3600" dirty="0"/>
          </a:p>
        </p:txBody>
      </p:sp>
      <p:sp>
        <p:nvSpPr>
          <p:cNvPr id="4" name="Shape 2"/>
          <p:cNvSpPr/>
          <p:nvPr/>
        </p:nvSpPr>
        <p:spPr>
          <a:xfrm>
            <a:off x="815975" y="3752216"/>
            <a:ext cx="3380264" cy="2289810"/>
          </a:xfrm>
          <a:prstGeom prst="roundRect">
            <a:avLst>
              <a:gd name="adj" fmla="val 5408"/>
            </a:avLst>
          </a:prstGeom>
          <a:solidFill>
            <a:srgbClr val="FFFDF8"/>
          </a:solidFill>
          <a:ln w="6350">
            <a:solidFill>
              <a:srgbClr val="E2DCCD"/>
            </a:solidFill>
            <a:prstDash val="solid"/>
          </a:ln>
        </p:spPr>
      </p:sp>
      <p:sp>
        <p:nvSpPr>
          <p:cNvPr id="5" name="Text 3"/>
          <p:cNvSpPr/>
          <p:nvPr/>
        </p:nvSpPr>
        <p:spPr>
          <a:xfrm>
            <a:off x="1122680" y="4058920"/>
            <a:ext cx="2849859"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2F6E9E"/>
                </a:solidFill>
                <a:latin typeface="JetBrains Mono" pitchFamily="49" charset="0"/>
                <a:ea typeface="JetBrains Mono" pitchFamily="49" charset="-122"/>
                <a:cs typeface="JetBrains Mono" pitchFamily="49" charset="-120"/>
              </a:rPr>
              <a:t>01</a:t>
            </a:r>
            <a:endParaRPr lang="en-US" sz="1600" dirty="0"/>
          </a:p>
        </p:txBody>
      </p:sp>
      <p:sp>
        <p:nvSpPr>
          <p:cNvPr id="6" name="Text 4"/>
          <p:cNvSpPr/>
          <p:nvPr/>
        </p:nvSpPr>
        <p:spPr>
          <a:xfrm>
            <a:off x="1122680" y="4445000"/>
            <a:ext cx="284985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B1F27"/>
                </a:solidFill>
                <a:latin typeface="Space Grotesk" pitchFamily="34" charset="0"/>
                <a:ea typeface="Space Grotesk" pitchFamily="34" charset="-122"/>
                <a:cs typeface="Space Grotesk" pitchFamily="34" charset="-120"/>
              </a:rPr>
              <a:t>Memilih</a:t>
            </a:r>
            <a:endParaRPr lang="en-US" sz="2200" dirty="0"/>
          </a:p>
        </p:txBody>
      </p:sp>
      <p:sp>
        <p:nvSpPr>
          <p:cNvPr id="7" name="Text 5"/>
          <p:cNvSpPr/>
          <p:nvPr/>
        </p:nvSpPr>
        <p:spPr>
          <a:xfrm>
            <a:off x="1122680" y="4881880"/>
            <a:ext cx="2849859"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160"/>
                </a:solidFill>
                <a:latin typeface="Space Grotesk" pitchFamily="34" charset="0"/>
                <a:ea typeface="Space Grotesk" pitchFamily="34" charset="-122"/>
                <a:cs typeface="Space Grotesk" pitchFamily="34" charset="-120"/>
              </a:rPr>
              <a:t>Mana yang diserahkan ke AI, mana yang tetap dipegang manusia.</a:t>
            </a:r>
            <a:endParaRPr lang="en-US" sz="1600" dirty="0"/>
          </a:p>
        </p:txBody>
      </p:sp>
      <p:sp>
        <p:nvSpPr>
          <p:cNvPr id="8" name="Shape 6"/>
          <p:cNvSpPr/>
          <p:nvPr/>
        </p:nvSpPr>
        <p:spPr>
          <a:xfrm>
            <a:off x="4405789" y="3752216"/>
            <a:ext cx="3380343" cy="2289810"/>
          </a:xfrm>
          <a:prstGeom prst="roundRect">
            <a:avLst>
              <a:gd name="adj" fmla="val 5408"/>
            </a:avLst>
          </a:prstGeom>
          <a:solidFill>
            <a:srgbClr val="FFFDF8"/>
          </a:solidFill>
          <a:ln w="6350">
            <a:solidFill>
              <a:srgbClr val="E2DCCD"/>
            </a:solidFill>
            <a:prstDash val="solid"/>
          </a:ln>
        </p:spPr>
      </p:sp>
      <p:sp>
        <p:nvSpPr>
          <p:cNvPr id="9" name="Text 7"/>
          <p:cNvSpPr/>
          <p:nvPr/>
        </p:nvSpPr>
        <p:spPr>
          <a:xfrm>
            <a:off x="4712494" y="4058920"/>
            <a:ext cx="2849941"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2F6E9E"/>
                </a:solidFill>
                <a:latin typeface="JetBrains Mono" pitchFamily="49" charset="0"/>
                <a:ea typeface="JetBrains Mono" pitchFamily="49" charset="-122"/>
                <a:cs typeface="JetBrains Mono" pitchFamily="49" charset="-120"/>
              </a:rPr>
              <a:t>02</a:t>
            </a:r>
            <a:endParaRPr lang="en-US" sz="1600" dirty="0"/>
          </a:p>
        </p:txBody>
      </p:sp>
      <p:sp>
        <p:nvSpPr>
          <p:cNvPr id="10" name="Text 8"/>
          <p:cNvSpPr/>
          <p:nvPr/>
        </p:nvSpPr>
        <p:spPr>
          <a:xfrm>
            <a:off x="4712494" y="4445000"/>
            <a:ext cx="284994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B1F27"/>
                </a:solidFill>
                <a:latin typeface="Space Grotesk" pitchFamily="34" charset="0"/>
                <a:ea typeface="Space Grotesk" pitchFamily="34" charset="-122"/>
                <a:cs typeface="Space Grotesk" pitchFamily="34" charset="-120"/>
              </a:rPr>
              <a:t>Merangkai</a:t>
            </a:r>
            <a:endParaRPr lang="en-US" sz="2200" dirty="0"/>
          </a:p>
        </p:txBody>
      </p:sp>
      <p:sp>
        <p:nvSpPr>
          <p:cNvPr id="11" name="Text 9"/>
          <p:cNvSpPr/>
          <p:nvPr/>
        </p:nvSpPr>
        <p:spPr>
          <a:xfrm>
            <a:off x="4712494" y="4881880"/>
            <a:ext cx="2849941"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160"/>
                </a:solidFill>
                <a:latin typeface="Space Grotesk" pitchFamily="34" charset="0"/>
                <a:ea typeface="Space Grotesk" pitchFamily="34" charset="-122"/>
                <a:cs typeface="Space Grotesk" pitchFamily="34" charset="-120"/>
              </a:rPr>
              <a:t>Menyambungkan AI, data, dan tools jadi satu alur kerja.</a:t>
            </a:r>
            <a:endParaRPr lang="en-US" sz="1600" dirty="0"/>
          </a:p>
        </p:txBody>
      </p:sp>
      <p:sp>
        <p:nvSpPr>
          <p:cNvPr id="12" name="Shape 10"/>
          <p:cNvSpPr/>
          <p:nvPr/>
        </p:nvSpPr>
        <p:spPr>
          <a:xfrm>
            <a:off x="7995682" y="3752216"/>
            <a:ext cx="3380343" cy="2289810"/>
          </a:xfrm>
          <a:prstGeom prst="roundRect">
            <a:avLst>
              <a:gd name="adj" fmla="val 5408"/>
            </a:avLst>
          </a:prstGeom>
          <a:solidFill>
            <a:srgbClr val="FFFDF8"/>
          </a:solidFill>
          <a:ln w="6350">
            <a:solidFill>
              <a:srgbClr val="E2DCCD"/>
            </a:solidFill>
            <a:prstDash val="solid"/>
          </a:ln>
        </p:spPr>
      </p:sp>
      <p:sp>
        <p:nvSpPr>
          <p:cNvPr id="13" name="Text 11"/>
          <p:cNvSpPr/>
          <p:nvPr/>
        </p:nvSpPr>
        <p:spPr>
          <a:xfrm>
            <a:off x="8302387" y="4058920"/>
            <a:ext cx="2849941"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2F6E9E"/>
                </a:solidFill>
                <a:latin typeface="JetBrains Mono" pitchFamily="49" charset="0"/>
                <a:ea typeface="JetBrains Mono" pitchFamily="49" charset="-122"/>
                <a:cs typeface="JetBrains Mono" pitchFamily="49" charset="-120"/>
              </a:rPr>
              <a:t>03</a:t>
            </a:r>
            <a:endParaRPr lang="en-US" sz="1600" dirty="0"/>
          </a:p>
        </p:txBody>
      </p:sp>
      <p:sp>
        <p:nvSpPr>
          <p:cNvPr id="14" name="Text 12"/>
          <p:cNvSpPr/>
          <p:nvPr/>
        </p:nvSpPr>
        <p:spPr>
          <a:xfrm>
            <a:off x="8302387" y="4445000"/>
            <a:ext cx="284994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B1F27"/>
                </a:solidFill>
                <a:latin typeface="Space Grotesk" pitchFamily="34" charset="0"/>
                <a:ea typeface="Space Grotesk" pitchFamily="34" charset="-122"/>
                <a:cs typeface="Space Grotesk" pitchFamily="34" charset="-120"/>
              </a:rPr>
              <a:t>Memeriksa</a:t>
            </a:r>
            <a:endParaRPr lang="en-US" sz="2200" dirty="0"/>
          </a:p>
        </p:txBody>
      </p:sp>
      <p:sp>
        <p:nvSpPr>
          <p:cNvPr id="15" name="Text 13"/>
          <p:cNvSpPr/>
          <p:nvPr/>
        </p:nvSpPr>
        <p:spPr>
          <a:xfrm>
            <a:off x="8302387" y="4881880"/>
            <a:ext cx="2849941"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160"/>
                </a:solidFill>
                <a:latin typeface="Space Grotesk" pitchFamily="34" charset="0"/>
                <a:ea typeface="Space Grotesk" pitchFamily="34" charset="-122"/>
                <a:cs typeface="Space Grotesk" pitchFamily="34" charset="-120"/>
              </a:rPr>
              <a:t>Mengecek hasilnya sebelum menyentuh uang atau pelanggan.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4181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F2A541"/>
                </a:solidFill>
                <a:latin typeface="Space Grotesk" pitchFamily="34" charset="0"/>
                <a:ea typeface="Space Grotesk" pitchFamily="34" charset="-122"/>
                <a:cs typeface="Space Grotesk" pitchFamily="34" charset="-120"/>
              </a:rPr>
              <a:t>KENAPA PYTHON</a:t>
            </a:r>
            <a:endParaRPr lang="en-US" sz="1600" dirty="0"/>
          </a:p>
        </p:txBody>
      </p:sp>
      <p:sp>
        <p:nvSpPr>
          <p:cNvPr id="3" name="Text 1"/>
          <p:cNvSpPr>
            <a:spLocks noGrp="1"/>
          </p:cNvSpPr>
          <p:nvPr>
            <p:ph type="title"/>
          </p:nvPr>
        </p:nvSpPr>
        <p:spPr>
          <a:xfrm>
            <a:off x="812800" y="1249682"/>
            <a:ext cx="10883392"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Python untuk AI itu seperti Excel untuk dunia bisnis.</a:t>
            </a:r>
            <a:endParaRPr lang="en-US" sz="3600" dirty="0"/>
          </a:p>
        </p:txBody>
      </p:sp>
      <p:sp>
        <p:nvSpPr>
          <p:cNvPr id="4" name="Shape 2"/>
          <p:cNvSpPr/>
          <p:nvPr/>
        </p:nvSpPr>
        <p:spPr>
          <a:xfrm>
            <a:off x="815975" y="3853814"/>
            <a:ext cx="3380264" cy="2188210"/>
          </a:xfrm>
          <a:prstGeom prst="roundRect">
            <a:avLst>
              <a:gd name="adj" fmla="val 5659"/>
            </a:avLst>
          </a:prstGeom>
          <a:solidFill>
            <a:srgbClr val="1E2430"/>
          </a:solidFill>
          <a:ln w="6350">
            <a:solidFill>
              <a:srgbClr val="2E3644"/>
            </a:solidFill>
            <a:prstDash val="solid"/>
          </a:ln>
        </p:spPr>
      </p:sp>
      <p:sp>
        <p:nvSpPr>
          <p:cNvPr id="5" name="Text 3"/>
          <p:cNvSpPr/>
          <p:nvPr/>
        </p:nvSpPr>
        <p:spPr>
          <a:xfrm>
            <a:off x="1122680" y="4160521"/>
            <a:ext cx="284985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2A541"/>
                </a:solidFill>
                <a:latin typeface="Space Grotesk" pitchFamily="34" charset="0"/>
                <a:ea typeface="Space Grotesk" pitchFamily="34" charset="-122"/>
                <a:cs typeface="Space Grotesk" pitchFamily="34" charset="-120"/>
              </a:rPr>
              <a:t>Bahasa utama AI</a:t>
            </a:r>
            <a:endParaRPr lang="en-US" sz="2200" dirty="0"/>
          </a:p>
        </p:txBody>
      </p:sp>
      <p:sp>
        <p:nvSpPr>
          <p:cNvPr id="6" name="Text 4"/>
          <p:cNvSpPr/>
          <p:nvPr/>
        </p:nvSpPr>
        <p:spPr>
          <a:xfrm>
            <a:off x="1122680" y="4597400"/>
            <a:ext cx="2849859"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4A8"/>
                </a:solidFill>
                <a:latin typeface="Space Grotesk" pitchFamily="34" charset="0"/>
                <a:ea typeface="Space Grotesk" pitchFamily="34" charset="-122"/>
                <a:cs typeface="Space Grotesk" pitchFamily="34" charset="-120"/>
              </a:rPr>
              <a:t>Model, library, dan tutorial AI hampir selalu rilis untuk Python duluan.</a:t>
            </a:r>
            <a:endParaRPr lang="en-US" sz="1600" dirty="0"/>
          </a:p>
        </p:txBody>
      </p:sp>
      <p:sp>
        <p:nvSpPr>
          <p:cNvPr id="7" name="Shape 5"/>
          <p:cNvSpPr/>
          <p:nvPr/>
        </p:nvSpPr>
        <p:spPr>
          <a:xfrm>
            <a:off x="4405789" y="3853814"/>
            <a:ext cx="3380343" cy="2188210"/>
          </a:xfrm>
          <a:prstGeom prst="roundRect">
            <a:avLst>
              <a:gd name="adj" fmla="val 5659"/>
            </a:avLst>
          </a:prstGeom>
          <a:solidFill>
            <a:srgbClr val="1E2430"/>
          </a:solidFill>
          <a:ln w="6350">
            <a:solidFill>
              <a:srgbClr val="2E3644"/>
            </a:solidFill>
            <a:prstDash val="solid"/>
          </a:ln>
        </p:spPr>
      </p:sp>
      <p:sp>
        <p:nvSpPr>
          <p:cNvPr id="8" name="Text 6"/>
          <p:cNvSpPr/>
          <p:nvPr/>
        </p:nvSpPr>
        <p:spPr>
          <a:xfrm>
            <a:off x="4712494" y="4160521"/>
            <a:ext cx="284994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2A541"/>
                </a:solidFill>
                <a:latin typeface="Space Grotesk" pitchFamily="34" charset="0"/>
                <a:ea typeface="Space Grotesk" pitchFamily="34" charset="-122"/>
                <a:cs typeface="Space Grotesk" pitchFamily="34" charset="-120"/>
              </a:rPr>
              <a:t>Lem perekat</a:t>
            </a:r>
            <a:endParaRPr lang="en-US" sz="2200" dirty="0"/>
          </a:p>
        </p:txBody>
      </p:sp>
      <p:sp>
        <p:nvSpPr>
          <p:cNvPr id="9" name="Text 7"/>
          <p:cNvSpPr/>
          <p:nvPr/>
        </p:nvSpPr>
        <p:spPr>
          <a:xfrm>
            <a:off x="4712494" y="4597400"/>
            <a:ext cx="2849941" cy="1163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4A8"/>
                </a:solidFill>
                <a:latin typeface="Space Grotesk" pitchFamily="34" charset="0"/>
                <a:ea typeface="Space Grotesk" pitchFamily="34" charset="-122"/>
                <a:cs typeface="Space Grotesk" pitchFamily="34" charset="-120"/>
              </a:rPr>
              <a:t>Bisa menyambungkan chat WhatsApp, spreadsheet, model AI, dan database dalam satu skrip pendek.</a:t>
            </a:r>
            <a:endParaRPr lang="en-US" sz="1600" dirty="0"/>
          </a:p>
        </p:txBody>
      </p:sp>
      <p:sp>
        <p:nvSpPr>
          <p:cNvPr id="10" name="Shape 8"/>
          <p:cNvSpPr/>
          <p:nvPr/>
        </p:nvSpPr>
        <p:spPr>
          <a:xfrm>
            <a:off x="7995682" y="3853814"/>
            <a:ext cx="3380343" cy="2188210"/>
          </a:xfrm>
          <a:prstGeom prst="roundRect">
            <a:avLst>
              <a:gd name="adj" fmla="val 5659"/>
            </a:avLst>
          </a:prstGeom>
          <a:solidFill>
            <a:srgbClr val="1E2430"/>
          </a:solidFill>
          <a:ln w="6350">
            <a:solidFill>
              <a:srgbClr val="2E3644"/>
            </a:solidFill>
            <a:prstDash val="solid"/>
          </a:ln>
        </p:spPr>
      </p:sp>
      <p:sp>
        <p:nvSpPr>
          <p:cNvPr id="11" name="Text 9"/>
          <p:cNvSpPr/>
          <p:nvPr/>
        </p:nvSpPr>
        <p:spPr>
          <a:xfrm>
            <a:off x="8302387" y="4160521"/>
            <a:ext cx="284994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2A541"/>
                </a:solidFill>
                <a:latin typeface="Space Grotesk" pitchFamily="34" charset="0"/>
                <a:ea typeface="Space Grotesk" pitchFamily="34" charset="-122"/>
                <a:cs typeface="Space Grotesk" pitchFamily="34" charset="-120"/>
              </a:rPr>
              <a:t>Mudah dibaca</a:t>
            </a:r>
            <a:endParaRPr lang="en-US" sz="2200" dirty="0"/>
          </a:p>
        </p:txBody>
      </p:sp>
      <p:sp>
        <p:nvSpPr>
          <p:cNvPr id="12" name="Text 10"/>
          <p:cNvSpPr/>
          <p:nvPr/>
        </p:nvSpPr>
        <p:spPr>
          <a:xfrm>
            <a:off x="8302387" y="4597400"/>
            <a:ext cx="2849941"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4A8"/>
                </a:solidFill>
                <a:latin typeface="Space Grotesk" pitchFamily="34" charset="0"/>
                <a:ea typeface="Space Grotesk" pitchFamily="34" charset="-122"/>
                <a:cs typeface="Space Grotesk" pitchFamily="34" charset="-120"/>
              </a:rPr>
              <a:t>Hampir seperti kalimat biasa. Kita bisa mengecek kode yang ditulis AI.</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2F6E9E"/>
                </a:solidFill>
                <a:latin typeface="Space Grotesk" pitchFamily="34" charset="0"/>
                <a:ea typeface="Space Grotesk" pitchFamily="34" charset="-122"/>
                <a:cs typeface="Space Grotesk" pitchFamily="34" charset="-120"/>
              </a:rPr>
              <a:t>PERLU BELAJAR SEJAUH APA?</a:t>
            </a:r>
            <a:endParaRPr lang="en-US" sz="1600" dirty="0"/>
          </a:p>
        </p:txBody>
      </p:sp>
      <p:sp>
        <p:nvSpPr>
          <p:cNvPr id="3" name="Text 1"/>
          <p:cNvSpPr>
            <a:spLocks noGrp="1"/>
          </p:cNvSpPr>
          <p:nvPr>
            <p:ph type="title"/>
          </p:nvPr>
        </p:nvSpPr>
        <p:spPr>
          <a:xfrm>
            <a:off x="812800" y="1249682"/>
            <a:ext cx="10883392"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B1F27"/>
                </a:solidFill>
                <a:latin typeface="Space Grotesk" pitchFamily="34" charset="0"/>
                <a:ea typeface="Space Grotesk" pitchFamily="34" charset="-122"/>
                <a:cs typeface="Space Grotesk" pitchFamily="34" charset="-120"/>
              </a:rPr>
              <a:t>Cukup bisa baca dan rakit. Tidak perlu jadi programmer.</a:t>
            </a:r>
            <a:endParaRPr lang="en-US" sz="3600" dirty="0"/>
          </a:p>
        </p:txBody>
      </p:sp>
      <p:sp>
        <p:nvSpPr>
          <p:cNvPr id="4" name="Shape 2"/>
          <p:cNvSpPr/>
          <p:nvPr/>
        </p:nvSpPr>
        <p:spPr>
          <a:xfrm>
            <a:off x="812800" y="2735580"/>
            <a:ext cx="10566400" cy="0"/>
          </a:xfrm>
          <a:prstGeom prst="line">
            <a:avLst/>
          </a:prstGeom>
          <a:noFill/>
          <a:ln w="10160">
            <a:solidFill>
              <a:srgbClr val="141413">
                <a:alpha val="22000"/>
              </a:srgbClr>
            </a:solidFill>
            <a:prstDash val="solid"/>
          </a:ln>
        </p:spPr>
      </p:sp>
      <p:sp>
        <p:nvSpPr>
          <p:cNvPr id="5" name="Shape 3"/>
          <p:cNvSpPr/>
          <p:nvPr/>
        </p:nvSpPr>
        <p:spPr>
          <a:xfrm>
            <a:off x="817880" y="2730500"/>
            <a:ext cx="0" cy="2448560"/>
          </a:xfrm>
          <a:prstGeom prst="line">
            <a:avLst/>
          </a:prstGeom>
          <a:noFill/>
          <a:ln w="1016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75360" y="2867660"/>
          <a:ext cx="10251440" cy="2184400"/>
        </p:xfrm>
        <a:graphic>
          <a:graphicData uri="http://schemas.openxmlformats.org/drawingml/2006/table">
            <a:tbl>
              <a:tblPr/>
              <a:tblGrid>
                <a:gridCol w="5125720">
                  <a:extLst>
                    <a:ext uri="{9D8B030D-6E8A-4147-A177-3AD203B41FA5}">
                      <a16:colId xmlns:a16="http://schemas.microsoft.com/office/drawing/2014/main" val="20000"/>
                    </a:ext>
                  </a:extLst>
                </a:gridCol>
                <a:gridCol w="5125720">
                  <a:extLst>
                    <a:ext uri="{9D8B030D-6E8A-4147-A177-3AD203B41FA5}">
                      <a16:colId xmlns:a16="http://schemas.microsoft.com/office/drawing/2014/main" val="20001"/>
                    </a:ext>
                  </a:extLst>
                </a:gridCol>
              </a:tblGrid>
              <a:tr h="436880">
                <a:tc>
                  <a:txBody>
                    <a:bodyPr/>
                    <a:lstStyle/>
                    <a:p>
                      <a:pPr marL="0" indent="0">
                        <a:lnSpc>
                          <a:spcPts val="2240"/>
                        </a:lnSpc>
                        <a:buNone/>
                      </a:pPr>
                      <a:r>
                        <a:rPr lang="en-US" sz="1600" b="1" dirty="0">
                          <a:solidFill>
                            <a:srgbClr val="2F6E9E"/>
                          </a:solidFill>
                          <a:latin typeface="Space Grotesk" pitchFamily="34" charset="0"/>
                          <a:ea typeface="Space Grotesk" pitchFamily="34" charset="-122"/>
                          <a:cs typeface="Space Grotesk" pitchFamily="34" charset="-120"/>
                        </a:rPr>
                        <a:t>Yang perlu dikuasai</a:t>
                      </a:r>
                      <a:endParaRPr lang="en-US" sz="1600" dirty="0">
                        <a:latin typeface="Space Grotesk" charset="0"/>
                        <a:ea typeface="Space Grotesk" charset="0"/>
                        <a:cs typeface="Space Grotesk" charset="0"/>
                      </a:endParaRPr>
                    </a:p>
                  </a:txBody>
                  <a:tcPr marL="71120" marR="71120" marT="71120" marB="71120">
                    <a:lnL w="0" cap="flat" cmpd="sng" algn="ctr">
                      <a:noFill/>
                    </a:lnL>
                    <a:lnR w="12700" cap="flat" cmpd="sng" algn="ctr">
                      <a:solidFill>
                        <a:srgbClr val="B5B2AD"/>
                      </a:solidFill>
                      <a:prstDash val="solid"/>
                      <a:round/>
                      <a:headEnd type="none" w="med" len="med"/>
                      <a:tailEnd type="none" w="med" len="med"/>
                    </a:lnR>
                    <a:lnT w="0" cap="flat" cmpd="sng" algn="ctr">
                      <a:noFill/>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2240"/>
                        </a:lnSpc>
                        <a:buNone/>
                      </a:pPr>
                      <a:r>
                        <a:rPr lang="en-US" sz="1600" b="1" dirty="0">
                          <a:solidFill>
                            <a:srgbClr val="6B6455"/>
                          </a:solidFill>
                          <a:latin typeface="Space Grotesk" pitchFamily="34" charset="0"/>
                          <a:ea typeface="Space Grotesk" pitchFamily="34" charset="-122"/>
                          <a:cs typeface="Space Grotesk" pitchFamily="34" charset="-120"/>
                        </a:rPr>
                        <a:t>Yang boleh dilewati</a:t>
                      </a:r>
                      <a:endParaRPr lang="en-US" sz="1600" dirty="0">
                        <a:latin typeface="Space Grotesk" charset="0"/>
                        <a:ea typeface="Space Grotesk" charset="0"/>
                        <a:cs typeface="Space Grotesk" charset="0"/>
                      </a:endParaRPr>
                    </a:p>
                  </a:txBody>
                  <a:tcPr marL="71120" marR="71120" marT="71120" marB="7112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0" cap="flat" cmpd="sng" algn="ctr">
                      <a:noFill/>
                    </a:lnT>
                    <a:lnB w="12700" cap="flat" cmpd="sng" algn="ctr">
                      <a:solidFill>
                        <a:srgbClr val="B5B2AD"/>
                      </a:solidFill>
                      <a:prstDash val="solid"/>
                      <a:round/>
                      <a:headEnd type="none" w="med" len="med"/>
                      <a:tailEnd type="none" w="med" len="med"/>
                    </a:lnB>
                    <a:solidFill>
                      <a:srgbClr val="E2DFD9"/>
                    </a:solidFill>
                  </a:tcPr>
                </a:tc>
                <a:extLst>
                  <a:ext uri="{0D108BD9-81ED-4DB2-BD59-A6C34878D82A}">
                    <a16:rowId xmlns:a16="http://schemas.microsoft.com/office/drawing/2014/main" val="10000"/>
                  </a:ext>
                </a:extLst>
              </a:tr>
              <a:tr h="436880">
                <a:tc>
                  <a:txBody>
                    <a:bodyPr/>
                    <a:lstStyle/>
                    <a:p>
                      <a:pPr marL="0" indent="0">
                        <a:lnSpc>
                          <a:spcPts val="2240"/>
                        </a:lnSpc>
                        <a:buNone/>
                      </a:pPr>
                      <a:r>
                        <a:rPr lang="en-US" sz="1600" dirty="0">
                          <a:solidFill>
                            <a:srgbClr val="1B1F27"/>
                          </a:solidFill>
                          <a:latin typeface="Space Grotesk" pitchFamily="34" charset="0"/>
                          <a:ea typeface="Space Grotesk" pitchFamily="34" charset="-122"/>
                          <a:cs typeface="Space Grotesk" pitchFamily="34" charset="-120"/>
                        </a:rPr>
                        <a:t>Membaca skrip dan paham isinya</a:t>
                      </a:r>
                      <a:endParaRPr lang="en-US" sz="1600" dirty="0">
                        <a:latin typeface="Space Grotesk" charset="0"/>
                        <a:ea typeface="Space Grotesk" charset="0"/>
                        <a:cs typeface="Space Grotesk" charset="0"/>
                      </a:endParaRPr>
                    </a:p>
                  </a:txBody>
                  <a:tcPr marL="71120" marR="71120" marT="71120" marB="71120">
                    <a:lnL w="0" cap="flat" cmpd="sng" algn="ctr">
                      <a:noFill/>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2240"/>
                        </a:lnSpc>
                        <a:buNone/>
                      </a:pPr>
                      <a:r>
                        <a:rPr lang="en-US" sz="1600" dirty="0">
                          <a:solidFill>
                            <a:srgbClr val="6B6455"/>
                          </a:solidFill>
                          <a:latin typeface="Space Grotesk" pitchFamily="34" charset="0"/>
                          <a:ea typeface="Space Grotesk" pitchFamily="34" charset="-122"/>
                          <a:cs typeface="Space Grotesk" pitchFamily="34" charset="-120"/>
                        </a:rPr>
                        <a:t>Gelar ilmu komputer</a:t>
                      </a:r>
                      <a:endParaRPr lang="en-US" sz="1600" dirty="0">
                        <a:latin typeface="Space Grotesk" charset="0"/>
                        <a:ea typeface="Space Grotesk" charset="0"/>
                        <a:cs typeface="Space Grotesk" charset="0"/>
                      </a:endParaRPr>
                    </a:p>
                  </a:txBody>
                  <a:tcPr marL="71120" marR="71120" marT="71120" marB="7112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1"/>
                  </a:ext>
                </a:extLst>
              </a:tr>
              <a:tr h="436880">
                <a:tc>
                  <a:txBody>
                    <a:bodyPr/>
                    <a:lstStyle/>
                    <a:p>
                      <a:pPr marL="0" indent="0">
                        <a:lnSpc>
                          <a:spcPts val="2240"/>
                        </a:lnSpc>
                        <a:buNone/>
                      </a:pPr>
                      <a:r>
                        <a:rPr lang="en-US" sz="1600" dirty="0">
                          <a:solidFill>
                            <a:srgbClr val="1B1F27"/>
                          </a:solidFill>
                          <a:latin typeface="Space Grotesk" pitchFamily="34" charset="0"/>
                          <a:ea typeface="Space Grotesk" pitchFamily="34" charset="-122"/>
                          <a:cs typeface="Space Grotesk" pitchFamily="34" charset="-120"/>
                        </a:rPr>
                        <a:t>Menjalankan skrip, install package</a:t>
                      </a:r>
                      <a:endParaRPr lang="en-US" sz="1600" dirty="0">
                        <a:latin typeface="Space Grotesk" charset="0"/>
                        <a:ea typeface="Space Grotesk" charset="0"/>
                        <a:cs typeface="Space Grotesk" charset="0"/>
                      </a:endParaRPr>
                    </a:p>
                  </a:txBody>
                  <a:tcPr marL="71120" marR="71120" marT="71120" marB="71120">
                    <a:lnL w="0" cap="flat" cmpd="sng" algn="ctr">
                      <a:noFill/>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2240"/>
                        </a:lnSpc>
                        <a:buNone/>
                      </a:pPr>
                      <a:r>
                        <a:rPr lang="en-US" sz="1600" dirty="0">
                          <a:solidFill>
                            <a:srgbClr val="6B6455"/>
                          </a:solidFill>
                          <a:latin typeface="Space Grotesk" pitchFamily="34" charset="0"/>
                          <a:ea typeface="Space Grotesk" pitchFamily="34" charset="-122"/>
                          <a:cs typeface="Space Grotesk" pitchFamily="34" charset="-120"/>
                        </a:rPr>
                        <a:t>Menghafal syntax</a:t>
                      </a:r>
                      <a:endParaRPr lang="en-US" sz="1600" dirty="0">
                        <a:latin typeface="Space Grotesk" charset="0"/>
                        <a:ea typeface="Space Grotesk" charset="0"/>
                        <a:cs typeface="Space Grotesk" charset="0"/>
                      </a:endParaRPr>
                    </a:p>
                  </a:txBody>
                  <a:tcPr marL="71120" marR="71120" marT="71120" marB="7112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2"/>
                  </a:ext>
                </a:extLst>
              </a:tr>
              <a:tr h="436880">
                <a:tc>
                  <a:txBody>
                    <a:bodyPr/>
                    <a:lstStyle/>
                    <a:p>
                      <a:pPr marL="0" indent="0">
                        <a:lnSpc>
                          <a:spcPts val="2240"/>
                        </a:lnSpc>
                        <a:buNone/>
                      </a:pPr>
                      <a:r>
                        <a:rPr lang="en-US" sz="1600" dirty="0">
                          <a:solidFill>
                            <a:srgbClr val="1B1F27"/>
                          </a:solidFill>
                          <a:latin typeface="Space Grotesk" pitchFamily="34" charset="0"/>
                          <a:ea typeface="Space Grotesk" pitchFamily="34" charset="-122"/>
                          <a:cs typeface="Space Grotesk" pitchFamily="34" charset="-120"/>
                        </a:rPr>
                        <a:t>Memanggil API AI dan membaca JSON</a:t>
                      </a:r>
                      <a:endParaRPr lang="en-US" sz="1600" dirty="0">
                        <a:latin typeface="Space Grotesk" charset="0"/>
                        <a:ea typeface="Space Grotesk" charset="0"/>
                        <a:cs typeface="Space Grotesk" charset="0"/>
                      </a:endParaRPr>
                    </a:p>
                  </a:txBody>
                  <a:tcPr marL="71120" marR="71120" marT="71120" marB="71120">
                    <a:lnL w="0" cap="flat" cmpd="sng" algn="ctr">
                      <a:noFill/>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2240"/>
                        </a:lnSpc>
                        <a:buNone/>
                      </a:pPr>
                      <a:r>
                        <a:rPr lang="en-US" sz="1600" dirty="0">
                          <a:solidFill>
                            <a:srgbClr val="6B6455"/>
                          </a:solidFill>
                          <a:latin typeface="Space Grotesk" pitchFamily="34" charset="0"/>
                          <a:ea typeface="Space Grotesk" pitchFamily="34" charset="-122"/>
                          <a:cs typeface="Space Grotesk" pitchFamily="34" charset="-120"/>
                        </a:rPr>
                        <a:t>Debat soal framework</a:t>
                      </a:r>
                      <a:endParaRPr lang="en-US" sz="1600" dirty="0">
                        <a:latin typeface="Space Grotesk" charset="0"/>
                        <a:ea typeface="Space Grotesk" charset="0"/>
                        <a:cs typeface="Space Grotesk" charset="0"/>
                      </a:endParaRPr>
                    </a:p>
                  </a:txBody>
                  <a:tcPr marL="71120" marR="71120" marT="71120" marB="7112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3"/>
                  </a:ext>
                </a:extLst>
              </a:tr>
              <a:tr h="436880">
                <a:tc>
                  <a:txBody>
                    <a:bodyPr/>
                    <a:lstStyle/>
                    <a:p>
                      <a:pPr marL="0" indent="0">
                        <a:lnSpc>
                          <a:spcPts val="2240"/>
                        </a:lnSpc>
                        <a:buNone/>
                      </a:pPr>
                      <a:r>
                        <a:rPr lang="en-US" sz="1600" dirty="0">
                          <a:solidFill>
                            <a:srgbClr val="1B1F27"/>
                          </a:solidFill>
                          <a:latin typeface="Space Grotesk" pitchFamily="34" charset="0"/>
                          <a:ea typeface="Space Grotesk" pitchFamily="34" charset="-122"/>
                          <a:cs typeface="Space Grotesk" pitchFamily="34" charset="-120"/>
                        </a:rPr>
                        <a:t>Menulis pengecekan if sederhana</a:t>
                      </a:r>
                      <a:endParaRPr lang="en-US" sz="1600" dirty="0">
                        <a:latin typeface="Space Grotesk" charset="0"/>
                        <a:ea typeface="Space Grotesk" charset="0"/>
                        <a:cs typeface="Space Grotesk" charset="0"/>
                      </a:endParaRPr>
                    </a:p>
                  </a:txBody>
                  <a:tcPr marL="71120" marR="71120" marT="71120" marB="71120">
                    <a:lnL w="0" cap="flat" cmpd="sng" algn="ctr">
                      <a:noFill/>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2240"/>
                        </a:lnSpc>
                        <a:buNone/>
                      </a:pPr>
                      <a:r>
                        <a:rPr lang="en-US" sz="1600" dirty="0">
                          <a:solidFill>
                            <a:srgbClr val="6B6455"/>
                          </a:solidFill>
                          <a:latin typeface="Space Grotesk" pitchFamily="34" charset="0"/>
                          <a:ea typeface="Space Grotesk" pitchFamily="34" charset="-122"/>
                          <a:cs typeface="Space Grotesk" pitchFamily="34" charset="-120"/>
                        </a:rPr>
                        <a:t>Server dan DevOps (untuk saat ini)</a:t>
                      </a:r>
                      <a:endParaRPr lang="en-US" sz="1600" dirty="0">
                        <a:latin typeface="Space Grotesk" charset="0"/>
                        <a:ea typeface="Space Grotesk" charset="0"/>
                        <a:cs typeface="Space Grotesk" charset="0"/>
                      </a:endParaRPr>
                    </a:p>
                  </a:txBody>
                  <a:tcPr marL="71120" marR="71120" marT="71120" marB="7112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812800" y="5654039"/>
            <a:ext cx="10883392" cy="41656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1B1F27"/>
                </a:solidFill>
                <a:latin typeface="Space Grotesk" pitchFamily="34" charset="0"/>
                <a:ea typeface="Space Grotesk" pitchFamily="34" charset="-122"/>
                <a:cs typeface="Space Grotesk" pitchFamily="34" charset="-120"/>
              </a:rPr>
              <a:t>Cukup latihan beberapa minggu, bukan bertahun-tahun.</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2F6E9E"/>
                </a:solidFill>
                <a:latin typeface="Space Grotesk" pitchFamily="34" charset="0"/>
                <a:ea typeface="Space Grotesk" pitchFamily="34" charset="-122"/>
                <a:cs typeface="Space Grotesk" pitchFamily="34" charset="-120"/>
              </a:rPr>
              <a:t>ANATOMI API CLAUDE · 1/2</a:t>
            </a:r>
            <a:endParaRPr lang="en-US" sz="1600" dirty="0"/>
          </a:p>
        </p:txBody>
      </p:sp>
      <p:sp>
        <p:nvSpPr>
          <p:cNvPr id="3" name="Text 1"/>
          <p:cNvSpPr>
            <a:spLocks noGrp="1"/>
          </p:cNvSpPr>
          <p:nvPr>
            <p:ph type="title"/>
          </p:nvPr>
        </p:nvSpPr>
        <p:spPr>
          <a:xfrm>
            <a:off x="812800" y="1224282"/>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B1F27"/>
                </a:solidFill>
                <a:latin typeface="Space Grotesk" pitchFamily="34" charset="0"/>
                <a:ea typeface="Space Grotesk" pitchFamily="34" charset="-122"/>
                <a:cs typeface="Space Grotesk" pitchFamily="34" charset="-120"/>
              </a:rPr>
              <a:t>Yang kita kirim ke Claude</a:t>
            </a:r>
            <a:endParaRPr lang="en-US" sz="3600" dirty="0"/>
          </a:p>
        </p:txBody>
      </p:sp>
      <p:sp>
        <p:nvSpPr>
          <p:cNvPr id="4" name="Shape 2"/>
          <p:cNvSpPr/>
          <p:nvPr/>
        </p:nvSpPr>
        <p:spPr>
          <a:xfrm>
            <a:off x="812800" y="1930400"/>
            <a:ext cx="4826000" cy="3962400"/>
          </a:xfrm>
          <a:prstGeom prst="roundRect">
            <a:avLst>
              <a:gd name="adj" fmla="val 3205"/>
            </a:avLst>
          </a:prstGeom>
          <a:solidFill>
            <a:srgbClr val="14181F"/>
          </a:solidFill>
          <a:ln/>
        </p:spPr>
      </p:sp>
      <p:sp>
        <p:nvSpPr>
          <p:cNvPr id="5" name="Text 3"/>
          <p:cNvSpPr/>
          <p:nvPr/>
        </p:nvSpPr>
        <p:spPr>
          <a:xfrm>
            <a:off x="1066800" y="2133600"/>
            <a:ext cx="4447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resp = client.messages.create(</a:t>
            </a:r>
            <a:endParaRPr lang="en-US" sz="1200" dirty="0"/>
          </a:p>
        </p:txBody>
      </p:sp>
      <p:sp>
        <p:nvSpPr>
          <p:cNvPr id="6" name="Text 4"/>
          <p:cNvSpPr/>
          <p:nvPr/>
        </p:nvSpPr>
        <p:spPr>
          <a:xfrm>
            <a:off x="1066800" y="2372361"/>
            <a:ext cx="4447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  model=</a:t>
            </a:r>
            <a:r>
              <a:rPr lang="en-US" sz="1200" b="1" dirty="0">
                <a:solidFill>
                  <a:srgbClr val="F2A541"/>
                </a:solidFill>
                <a:latin typeface="JetBrains Mono" pitchFamily="49" charset="0"/>
                <a:ea typeface="JetBrains Mono" pitchFamily="49" charset="-122"/>
                <a:cs typeface="JetBrains Mono" pitchFamily="49" charset="-120"/>
              </a:rPr>
              <a:t>"claude-sonnet-5-5"</a:t>
            </a:r>
            <a:r>
              <a:rPr lang="en-US" sz="1200" dirty="0">
                <a:solidFill>
                  <a:srgbClr val="E9E4D8"/>
                </a:solidFill>
                <a:latin typeface="JetBrains Mono" pitchFamily="49" charset="0"/>
                <a:ea typeface="JetBrains Mono" pitchFamily="49" charset="-122"/>
                <a:cs typeface="JetBrains Mono" pitchFamily="49" charset="-120"/>
              </a:rPr>
              <a:t>,</a:t>
            </a:r>
            <a:endParaRPr lang="en-US" sz="1200" dirty="0"/>
          </a:p>
        </p:txBody>
      </p:sp>
      <p:sp>
        <p:nvSpPr>
          <p:cNvPr id="7" name="Text 5"/>
          <p:cNvSpPr/>
          <p:nvPr/>
        </p:nvSpPr>
        <p:spPr>
          <a:xfrm>
            <a:off x="1066800" y="2611121"/>
            <a:ext cx="4447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  max_tokens=</a:t>
            </a:r>
            <a:r>
              <a:rPr lang="en-US" sz="1200" b="1" dirty="0">
                <a:solidFill>
                  <a:srgbClr val="F2A541"/>
                </a:solidFill>
                <a:latin typeface="JetBrains Mono" pitchFamily="49" charset="0"/>
                <a:ea typeface="JetBrains Mono" pitchFamily="49" charset="-122"/>
                <a:cs typeface="JetBrains Mono" pitchFamily="49" charset="-120"/>
              </a:rPr>
              <a:t>2000</a:t>
            </a:r>
            <a:r>
              <a:rPr lang="en-US" sz="1200" dirty="0">
                <a:solidFill>
                  <a:srgbClr val="E9E4D8"/>
                </a:solidFill>
                <a:latin typeface="JetBrains Mono" pitchFamily="49" charset="0"/>
                <a:ea typeface="JetBrains Mono" pitchFamily="49" charset="-122"/>
                <a:cs typeface="JetBrains Mono" pitchFamily="49" charset="-120"/>
              </a:rPr>
              <a:t>,</a:t>
            </a:r>
            <a:endParaRPr lang="en-US" sz="1200" dirty="0"/>
          </a:p>
        </p:txBody>
      </p:sp>
      <p:sp>
        <p:nvSpPr>
          <p:cNvPr id="8" name="Text 6"/>
          <p:cNvSpPr/>
          <p:nvPr/>
        </p:nvSpPr>
        <p:spPr>
          <a:xfrm>
            <a:off x="1066800" y="2849882"/>
            <a:ext cx="4447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  </a:t>
            </a:r>
            <a:r>
              <a:rPr lang="en-US" sz="1200" dirty="0">
                <a:solidFill>
                  <a:srgbClr val="9CC7E8"/>
                </a:solidFill>
                <a:latin typeface="JetBrains Mono" pitchFamily="49" charset="0"/>
                <a:ea typeface="JetBrains Mono" pitchFamily="49" charset="-122"/>
                <a:cs typeface="JetBrains Mono" pitchFamily="49" charset="-120"/>
              </a:rPr>
              <a:t>system="Jawab dalam JSON."</a:t>
            </a:r>
            <a:r>
              <a:rPr lang="en-US" sz="1200" dirty="0">
                <a:solidFill>
                  <a:srgbClr val="E9E4D8"/>
                </a:solidFill>
                <a:latin typeface="JetBrains Mono" pitchFamily="49" charset="0"/>
                <a:ea typeface="JetBrains Mono" pitchFamily="49" charset="-122"/>
                <a:cs typeface="JetBrains Mono" pitchFamily="49" charset="-120"/>
              </a:rPr>
              <a:t>,  </a:t>
            </a:r>
            <a:r>
              <a:rPr lang="en-US" sz="1200" dirty="0">
                <a:solidFill>
                  <a:srgbClr val="8A8F99"/>
                </a:solidFill>
                <a:latin typeface="JetBrains Mono" pitchFamily="49" charset="0"/>
                <a:ea typeface="JetBrains Mono" pitchFamily="49" charset="-122"/>
                <a:cs typeface="JetBrains Mono" pitchFamily="49" charset="-120"/>
              </a:rPr>
              <a:t># opsional</a:t>
            </a:r>
            <a:endParaRPr lang="en-US" sz="1200" dirty="0"/>
          </a:p>
        </p:txBody>
      </p:sp>
      <p:sp>
        <p:nvSpPr>
          <p:cNvPr id="9" name="Text 7"/>
          <p:cNvSpPr/>
          <p:nvPr/>
        </p:nvSpPr>
        <p:spPr>
          <a:xfrm>
            <a:off x="1066800" y="3088639"/>
            <a:ext cx="4447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  </a:t>
            </a:r>
            <a:r>
              <a:rPr lang="en-US" sz="1200" dirty="0">
                <a:solidFill>
                  <a:srgbClr val="9CC7E8"/>
                </a:solidFill>
                <a:latin typeface="JetBrains Mono" pitchFamily="49" charset="0"/>
                <a:ea typeface="JetBrains Mono" pitchFamily="49" charset="-122"/>
                <a:cs typeface="JetBrains Mono" pitchFamily="49" charset="-120"/>
              </a:rPr>
              <a:t>temperature=0</a:t>
            </a:r>
            <a:r>
              <a:rPr lang="en-US" sz="1200" dirty="0">
                <a:solidFill>
                  <a:srgbClr val="E9E4D8"/>
                </a:solidFill>
                <a:latin typeface="JetBrains Mono" pitchFamily="49" charset="0"/>
                <a:ea typeface="JetBrains Mono" pitchFamily="49" charset="-122"/>
                <a:cs typeface="JetBrains Mono" pitchFamily="49" charset="-120"/>
              </a:rPr>
              <a:t>,  </a:t>
            </a:r>
            <a:r>
              <a:rPr lang="en-US" sz="1200" dirty="0">
                <a:solidFill>
                  <a:srgbClr val="8A8F99"/>
                </a:solidFill>
                <a:latin typeface="JetBrains Mono" pitchFamily="49" charset="0"/>
                <a:ea typeface="JetBrains Mono" pitchFamily="49" charset="-122"/>
                <a:cs typeface="JetBrains Mono" pitchFamily="49" charset="-120"/>
              </a:rPr>
              <a:t># hanya model &lt; 5</a:t>
            </a:r>
            <a:endParaRPr lang="en-US" sz="1200" dirty="0"/>
          </a:p>
        </p:txBody>
      </p:sp>
      <p:sp>
        <p:nvSpPr>
          <p:cNvPr id="10" name="Text 8"/>
          <p:cNvSpPr/>
          <p:nvPr/>
        </p:nvSpPr>
        <p:spPr>
          <a:xfrm>
            <a:off x="1066800" y="3327400"/>
            <a:ext cx="4447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  messages=[{</a:t>
            </a:r>
            <a:endParaRPr lang="en-US" sz="1200" dirty="0"/>
          </a:p>
        </p:txBody>
      </p:sp>
      <p:sp>
        <p:nvSpPr>
          <p:cNvPr id="11" name="Text 9"/>
          <p:cNvSpPr/>
          <p:nvPr/>
        </p:nvSpPr>
        <p:spPr>
          <a:xfrm>
            <a:off x="1066800" y="3566161"/>
            <a:ext cx="4447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    "role": "user",</a:t>
            </a:r>
            <a:endParaRPr lang="en-US" sz="1200" dirty="0"/>
          </a:p>
        </p:txBody>
      </p:sp>
      <p:sp>
        <p:nvSpPr>
          <p:cNvPr id="12" name="Text 10"/>
          <p:cNvSpPr/>
          <p:nvPr/>
        </p:nvSpPr>
        <p:spPr>
          <a:xfrm>
            <a:off x="1066800" y="3804921"/>
            <a:ext cx="4447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    "content": [{</a:t>
            </a:r>
            <a:endParaRPr lang="en-US" sz="1200" dirty="0"/>
          </a:p>
        </p:txBody>
      </p:sp>
      <p:sp>
        <p:nvSpPr>
          <p:cNvPr id="13" name="Text 11"/>
          <p:cNvSpPr/>
          <p:nvPr/>
        </p:nvSpPr>
        <p:spPr>
          <a:xfrm>
            <a:off x="1066800" y="4043682"/>
            <a:ext cx="4447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      "type": "text",</a:t>
            </a:r>
            <a:endParaRPr lang="en-US" sz="1200" dirty="0"/>
          </a:p>
        </p:txBody>
      </p:sp>
      <p:sp>
        <p:nvSpPr>
          <p:cNvPr id="14" name="Text 12"/>
          <p:cNvSpPr/>
          <p:nvPr/>
        </p:nvSpPr>
        <p:spPr>
          <a:xfrm>
            <a:off x="1066800" y="4282439"/>
            <a:ext cx="4447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      "text": </a:t>
            </a:r>
            <a:r>
              <a:rPr lang="en-US" sz="1200" b="1" dirty="0">
                <a:solidFill>
                  <a:srgbClr val="F2A541"/>
                </a:solidFill>
                <a:latin typeface="JetBrains Mono" pitchFamily="49" charset="0"/>
                <a:ea typeface="JetBrains Mono" pitchFamily="49" charset="-122"/>
                <a:cs typeface="JetBrains Mono" pitchFamily="49" charset="-120"/>
              </a:rPr>
              <a:t>"Kamu admin toko. Baca pesan</a:t>
            </a:r>
            <a:endParaRPr lang="en-US" sz="1200" dirty="0"/>
          </a:p>
        </p:txBody>
      </p:sp>
      <p:sp>
        <p:nvSpPr>
          <p:cNvPr id="15" name="Text 13"/>
          <p:cNvSpPr/>
          <p:nvPr/>
        </p:nvSpPr>
        <p:spPr>
          <a:xfrm>
            <a:off x="1066800" y="4521200"/>
            <a:ext cx="4447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      </a:t>
            </a:r>
            <a:r>
              <a:rPr lang="en-US" sz="1200" b="1" dirty="0">
                <a:solidFill>
                  <a:srgbClr val="F2A541"/>
                </a:solidFill>
                <a:latin typeface="JetBrains Mono" pitchFamily="49" charset="0"/>
                <a:ea typeface="JetBrains Mono" pitchFamily="49" charset="-122"/>
                <a:cs typeface="JetBrains Mono" pitchFamily="49" charset="-120"/>
              </a:rPr>
              <a:t>WhatsApp ini, ubah jadi JSON...</a:t>
            </a:r>
            <a:endParaRPr lang="en-US" sz="1200" dirty="0"/>
          </a:p>
        </p:txBody>
      </p:sp>
      <p:sp>
        <p:nvSpPr>
          <p:cNvPr id="16" name="Text 14"/>
          <p:cNvSpPr/>
          <p:nvPr/>
        </p:nvSpPr>
        <p:spPr>
          <a:xfrm>
            <a:off x="1066800" y="4759961"/>
            <a:ext cx="4447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      </a:t>
            </a:r>
            <a:r>
              <a:rPr lang="en-US" sz="1200" b="1" dirty="0">
                <a:solidFill>
                  <a:srgbClr val="F2A541"/>
                </a:solidFill>
                <a:latin typeface="JetBrains Mono" pitchFamily="49" charset="0"/>
                <a:ea typeface="JetBrains Mono" pitchFamily="49" charset="-122"/>
                <a:cs typeface="JetBrains Mono" pitchFamily="49" charset="-120"/>
              </a:rPr>
              <a:t>+ katalog + 9 pesan"</a:t>
            </a:r>
            <a:endParaRPr lang="en-US" sz="1200" dirty="0"/>
          </a:p>
        </p:txBody>
      </p:sp>
      <p:sp>
        <p:nvSpPr>
          <p:cNvPr id="17" name="Text 15"/>
          <p:cNvSpPr/>
          <p:nvPr/>
        </p:nvSpPr>
        <p:spPr>
          <a:xfrm>
            <a:off x="1066800" y="4998721"/>
            <a:ext cx="4447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    }],</a:t>
            </a:r>
            <a:endParaRPr lang="en-US" sz="1200" dirty="0"/>
          </a:p>
        </p:txBody>
      </p:sp>
      <p:sp>
        <p:nvSpPr>
          <p:cNvPr id="18" name="Text 16"/>
          <p:cNvSpPr/>
          <p:nvPr/>
        </p:nvSpPr>
        <p:spPr>
          <a:xfrm>
            <a:off x="1066800" y="5237482"/>
            <a:ext cx="4447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  }],</a:t>
            </a:r>
            <a:endParaRPr lang="en-US" sz="1200" dirty="0"/>
          </a:p>
        </p:txBody>
      </p:sp>
      <p:sp>
        <p:nvSpPr>
          <p:cNvPr id="19" name="Text 17"/>
          <p:cNvSpPr/>
          <p:nvPr/>
        </p:nvSpPr>
        <p:spPr>
          <a:xfrm>
            <a:off x="1066800" y="5476239"/>
            <a:ext cx="4447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a:t>
            </a:r>
            <a:endParaRPr lang="en-US" sz="1200" dirty="0"/>
          </a:p>
        </p:txBody>
      </p:sp>
      <p:sp>
        <p:nvSpPr>
          <p:cNvPr id="20" name="Text 18"/>
          <p:cNvSpPr/>
          <p:nvPr/>
        </p:nvSpPr>
        <p:spPr>
          <a:xfrm>
            <a:off x="5943600" y="1930400"/>
            <a:ext cx="1625600" cy="314960"/>
          </a:xfrm>
          <a:prstGeom prst="roundRect">
            <a:avLst>
              <a:gd name="adj" fmla="val 50000"/>
            </a:avLst>
          </a:prstGeom>
          <a:solidFill>
            <a:srgbClr val="14181F"/>
          </a:solidFill>
          <a:ln/>
        </p:spPr>
        <p:txBody>
          <a:bodyPr wrap="none" lIns="0" tIns="0" rIns="0" bIns="0" rtlCol="0" anchor="ctr">
            <a:normAutofit/>
          </a:bodyPr>
          <a:lstStyle/>
          <a:p>
            <a:pPr marL="0" indent="0" algn="ctr">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struktur: tetap</a:t>
            </a:r>
            <a:endParaRPr lang="en-US" sz="1200" dirty="0"/>
          </a:p>
        </p:txBody>
      </p:sp>
      <p:sp>
        <p:nvSpPr>
          <p:cNvPr id="21" name="Text 19"/>
          <p:cNvSpPr/>
          <p:nvPr/>
        </p:nvSpPr>
        <p:spPr>
          <a:xfrm>
            <a:off x="7670800" y="1930400"/>
            <a:ext cx="1808480" cy="314960"/>
          </a:xfrm>
          <a:prstGeom prst="roundRect">
            <a:avLst>
              <a:gd name="adj" fmla="val 50000"/>
            </a:avLst>
          </a:prstGeom>
          <a:solidFill>
            <a:srgbClr val="14181F"/>
          </a:solidFill>
          <a:ln/>
        </p:spPr>
        <p:txBody>
          <a:bodyPr wrap="none" lIns="0" tIns="0" rIns="0" bIns="0" rtlCol="0" anchor="ctr">
            <a:normAutofit/>
          </a:bodyPr>
          <a:lstStyle/>
          <a:p>
            <a:pPr marL="0" indent="0" algn="ctr">
              <a:lnSpc>
                <a:spcPts val="1680"/>
              </a:lnSpc>
              <a:buNone/>
            </a:pPr>
            <a:r>
              <a:rPr lang="en-US" sz="1200" b="1" dirty="0">
                <a:solidFill>
                  <a:srgbClr val="F2A541"/>
                </a:solidFill>
                <a:latin typeface="JetBrains Mono" pitchFamily="49" charset="0"/>
                <a:ea typeface="JetBrains Mono" pitchFamily="49" charset="-122"/>
                <a:cs typeface="JetBrains Mono" pitchFamily="49" charset="-120"/>
              </a:rPr>
              <a:t>isi: bebas diubah</a:t>
            </a:r>
            <a:endParaRPr lang="en-US" sz="1200" dirty="0"/>
          </a:p>
        </p:txBody>
      </p:sp>
      <p:sp>
        <p:nvSpPr>
          <p:cNvPr id="22" name="Text 20"/>
          <p:cNvSpPr/>
          <p:nvPr/>
        </p:nvSpPr>
        <p:spPr>
          <a:xfrm>
            <a:off x="9580880" y="1930400"/>
            <a:ext cx="985520" cy="314960"/>
          </a:xfrm>
          <a:prstGeom prst="roundRect">
            <a:avLst>
              <a:gd name="adj" fmla="val 50000"/>
            </a:avLst>
          </a:prstGeom>
          <a:solidFill>
            <a:srgbClr val="14181F"/>
          </a:solidFill>
          <a:ln/>
        </p:spPr>
        <p:txBody>
          <a:bodyPr wrap="none" lIns="0" tIns="0" rIns="0" bIns="0" rtlCol="0" anchor="ctr">
            <a:normAutofit/>
          </a:bodyPr>
          <a:lstStyle/>
          <a:p>
            <a:pPr marL="0" indent="0" algn="ctr">
              <a:lnSpc>
                <a:spcPts val="1680"/>
              </a:lnSpc>
              <a:buNone/>
            </a:pPr>
            <a:r>
              <a:rPr lang="en-US" sz="1200" dirty="0">
                <a:solidFill>
                  <a:srgbClr val="9CC7E8"/>
                </a:solidFill>
                <a:latin typeface="JetBrains Mono" pitchFamily="49" charset="0"/>
                <a:ea typeface="JetBrains Mono" pitchFamily="49" charset="-122"/>
                <a:cs typeface="JetBrains Mono" pitchFamily="49" charset="-120"/>
              </a:rPr>
              <a:t>opsional</a:t>
            </a:r>
            <a:endParaRPr lang="en-US" sz="1200" dirty="0"/>
          </a:p>
        </p:txBody>
      </p:sp>
      <p:sp>
        <p:nvSpPr>
          <p:cNvPr id="23" name="Shape 21"/>
          <p:cNvSpPr/>
          <p:nvPr/>
        </p:nvSpPr>
        <p:spPr>
          <a:xfrm>
            <a:off x="5946775" y="2350136"/>
            <a:ext cx="5429250" cy="1070610"/>
          </a:xfrm>
          <a:prstGeom prst="roundRect">
            <a:avLst>
              <a:gd name="adj" fmla="val 11566"/>
            </a:avLst>
          </a:prstGeom>
          <a:solidFill>
            <a:srgbClr val="FFFDF8"/>
          </a:solidFill>
          <a:ln w="6350">
            <a:solidFill>
              <a:srgbClr val="E2DCCD"/>
            </a:solidFill>
            <a:prstDash val="solid"/>
          </a:ln>
        </p:spPr>
      </p:sp>
      <p:sp>
        <p:nvSpPr>
          <p:cNvPr id="24" name="Text 22"/>
          <p:cNvSpPr/>
          <p:nvPr/>
        </p:nvSpPr>
        <p:spPr>
          <a:xfrm>
            <a:off x="6151880" y="2504439"/>
            <a:ext cx="516961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F6E9E"/>
                </a:solidFill>
                <a:latin typeface="Space Grotesk" pitchFamily="34" charset="0"/>
                <a:ea typeface="Space Grotesk" pitchFamily="34" charset="-122"/>
                <a:cs typeface="Space Grotesk" pitchFamily="34" charset="-120"/>
              </a:rPr>
              <a:t>Wajib ada</a:t>
            </a:r>
            <a:endParaRPr lang="en-US" sz="1400" dirty="0"/>
          </a:p>
        </p:txBody>
      </p:sp>
      <p:sp>
        <p:nvSpPr>
          <p:cNvPr id="25" name="Text 23"/>
          <p:cNvSpPr/>
          <p:nvPr/>
        </p:nvSpPr>
        <p:spPr>
          <a:xfrm>
            <a:off x="6151880" y="2768600"/>
            <a:ext cx="516961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160"/>
                </a:solidFill>
                <a:latin typeface="Space Grotesk" pitchFamily="34" charset="0"/>
                <a:ea typeface="Space Grotesk" pitchFamily="34" charset="-122"/>
                <a:cs typeface="Space Grotesk" pitchFamily="34" charset="-120"/>
              </a:rPr>
              <a:t>model, max_tokens, dan messages. Kurang satu saja, permintaan ditolak.</a:t>
            </a:r>
            <a:endParaRPr lang="en-US" sz="1400" dirty="0"/>
          </a:p>
        </p:txBody>
      </p:sp>
      <p:sp>
        <p:nvSpPr>
          <p:cNvPr id="26" name="Shape 24"/>
          <p:cNvSpPr/>
          <p:nvPr/>
        </p:nvSpPr>
        <p:spPr>
          <a:xfrm>
            <a:off x="5946775" y="3528696"/>
            <a:ext cx="5429250" cy="1070610"/>
          </a:xfrm>
          <a:prstGeom prst="roundRect">
            <a:avLst>
              <a:gd name="adj" fmla="val 11566"/>
            </a:avLst>
          </a:prstGeom>
          <a:solidFill>
            <a:srgbClr val="FFFDF8"/>
          </a:solidFill>
          <a:ln w="6350">
            <a:solidFill>
              <a:srgbClr val="E2DCCD"/>
            </a:solidFill>
            <a:prstDash val="solid"/>
          </a:ln>
        </p:spPr>
      </p:sp>
      <p:sp>
        <p:nvSpPr>
          <p:cNvPr id="27" name="Text 25"/>
          <p:cNvSpPr/>
          <p:nvPr/>
        </p:nvSpPr>
        <p:spPr>
          <a:xfrm>
            <a:off x="6151880" y="3683000"/>
            <a:ext cx="516961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F6E9E"/>
                </a:solidFill>
                <a:latin typeface="Space Grotesk" pitchFamily="34" charset="0"/>
                <a:ea typeface="Space Grotesk" pitchFamily="34" charset="-122"/>
                <a:cs typeface="Space Grotesk" pitchFamily="34" charset="-120"/>
              </a:rPr>
              <a:t>Yang kamu atur</a:t>
            </a:r>
            <a:endParaRPr lang="en-US" sz="1400" dirty="0"/>
          </a:p>
        </p:txBody>
      </p:sp>
      <p:sp>
        <p:nvSpPr>
          <p:cNvPr id="28" name="Text 26"/>
          <p:cNvSpPr/>
          <p:nvPr/>
        </p:nvSpPr>
        <p:spPr>
          <a:xfrm>
            <a:off x="6151880" y="3947161"/>
            <a:ext cx="516961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160"/>
                </a:solidFill>
                <a:latin typeface="Space Grotesk" pitchFamily="34" charset="0"/>
                <a:ea typeface="Space Grotesk" pitchFamily="34" charset="-122"/>
                <a:cs typeface="Space Grotesk" pitchFamily="34" charset="-120"/>
              </a:rPr>
              <a:t>Pilihan model, batas panjang jawaban, dan isi "text": instruksi, data, dan format jawaban.</a:t>
            </a:r>
            <a:endParaRPr lang="en-US" sz="1400" dirty="0"/>
          </a:p>
        </p:txBody>
      </p:sp>
      <p:sp>
        <p:nvSpPr>
          <p:cNvPr id="29" name="Shape 27"/>
          <p:cNvSpPr/>
          <p:nvPr/>
        </p:nvSpPr>
        <p:spPr>
          <a:xfrm>
            <a:off x="5946775" y="4707257"/>
            <a:ext cx="5429250" cy="1070610"/>
          </a:xfrm>
          <a:prstGeom prst="roundRect">
            <a:avLst>
              <a:gd name="adj" fmla="val 11566"/>
            </a:avLst>
          </a:prstGeom>
          <a:solidFill>
            <a:srgbClr val="FFFDF8"/>
          </a:solidFill>
          <a:ln w="6350">
            <a:solidFill>
              <a:srgbClr val="E2DCCD"/>
            </a:solidFill>
            <a:prstDash val="solid"/>
          </a:ln>
        </p:spPr>
      </p:sp>
      <p:sp>
        <p:nvSpPr>
          <p:cNvPr id="30" name="Text 28"/>
          <p:cNvSpPr/>
          <p:nvPr/>
        </p:nvSpPr>
        <p:spPr>
          <a:xfrm>
            <a:off x="6151880" y="4861561"/>
            <a:ext cx="516961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F6E9E"/>
                </a:solidFill>
                <a:latin typeface="Space Grotesk" pitchFamily="34" charset="0"/>
                <a:ea typeface="Space Grotesk" pitchFamily="34" charset="-122"/>
                <a:cs typeface="Space Grotesk" pitchFamily="34" charset="-120"/>
              </a:rPr>
              <a:t>Opsional</a:t>
            </a:r>
            <a:endParaRPr lang="en-US" sz="1400" dirty="0"/>
          </a:p>
        </p:txBody>
      </p:sp>
      <p:sp>
        <p:nvSpPr>
          <p:cNvPr id="31" name="Text 29"/>
          <p:cNvSpPr/>
          <p:nvPr/>
        </p:nvSpPr>
        <p:spPr>
          <a:xfrm>
            <a:off x="6151880" y="5125721"/>
            <a:ext cx="516961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160"/>
                </a:solidFill>
                <a:latin typeface="Space Grotesk" pitchFamily="34" charset="0"/>
                <a:ea typeface="Space Grotesk" pitchFamily="34" charset="-122"/>
                <a:cs typeface="Space Grotesk" pitchFamily="34" charset="-120"/>
              </a:rPr>
              <a:t>Yang biru: system untuk aturan tetap. temperature hanya untuk model di bawah generasi 5.</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4181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F2A541"/>
                </a:solidFill>
                <a:latin typeface="Space Grotesk" pitchFamily="34" charset="0"/>
                <a:ea typeface="Space Grotesk" pitchFamily="34" charset="-122"/>
                <a:cs typeface="Space Grotesk" pitchFamily="34" charset="-120"/>
              </a:rPr>
              <a:t>ANATOMI API CLAUDE · 2/2</a:t>
            </a:r>
            <a:endParaRPr lang="en-US" sz="1600" dirty="0"/>
          </a:p>
        </p:txBody>
      </p:sp>
      <p:sp>
        <p:nvSpPr>
          <p:cNvPr id="3" name="Text 1"/>
          <p:cNvSpPr>
            <a:spLocks noGrp="1"/>
          </p:cNvSpPr>
          <p:nvPr>
            <p:ph type="title"/>
          </p:nvPr>
        </p:nvSpPr>
        <p:spPr>
          <a:xfrm>
            <a:off x="812800" y="1224282"/>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Yang Claude kirim balik</a:t>
            </a:r>
            <a:endParaRPr lang="en-US" sz="3600" dirty="0"/>
          </a:p>
        </p:txBody>
      </p:sp>
      <p:sp>
        <p:nvSpPr>
          <p:cNvPr id="4" name="Shape 2"/>
          <p:cNvSpPr/>
          <p:nvPr/>
        </p:nvSpPr>
        <p:spPr>
          <a:xfrm>
            <a:off x="815975" y="1984375"/>
            <a:ext cx="4819650" cy="3829050"/>
          </a:xfrm>
          <a:prstGeom prst="roundRect">
            <a:avLst>
              <a:gd name="adj" fmla="val 3234"/>
            </a:avLst>
          </a:prstGeom>
          <a:solidFill>
            <a:srgbClr val="1E2430"/>
          </a:solidFill>
          <a:ln w="6350">
            <a:solidFill>
              <a:srgbClr val="2E3644"/>
            </a:solidFill>
            <a:prstDash val="solid"/>
          </a:ln>
        </p:spPr>
      </p:sp>
      <p:sp>
        <p:nvSpPr>
          <p:cNvPr id="5" name="Text 3"/>
          <p:cNvSpPr/>
          <p:nvPr/>
        </p:nvSpPr>
        <p:spPr>
          <a:xfrm>
            <a:off x="1071880" y="2240282"/>
            <a:ext cx="44370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4A8"/>
                </a:solidFill>
                <a:latin typeface="JetBrains Mono" pitchFamily="49" charset="0"/>
                <a:ea typeface="JetBrains Mono" pitchFamily="49" charset="-122"/>
                <a:cs typeface="JetBrains Mono" pitchFamily="49" charset="-120"/>
              </a:rPr>
              <a:t>{</a:t>
            </a:r>
            <a:endParaRPr lang="en-US" sz="1200" dirty="0"/>
          </a:p>
        </p:txBody>
      </p:sp>
      <p:sp>
        <p:nvSpPr>
          <p:cNvPr id="6" name="Text 4"/>
          <p:cNvSpPr/>
          <p:nvPr/>
        </p:nvSpPr>
        <p:spPr>
          <a:xfrm>
            <a:off x="1071880" y="2479039"/>
            <a:ext cx="44370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4A8"/>
                </a:solidFill>
                <a:latin typeface="JetBrains Mono" pitchFamily="49" charset="0"/>
                <a:ea typeface="JetBrains Mono" pitchFamily="49" charset="-122"/>
                <a:cs typeface="JetBrains Mono" pitchFamily="49" charset="-120"/>
              </a:rPr>
              <a:t>  "id": "msg_01AbC...",</a:t>
            </a:r>
            <a:endParaRPr lang="en-US" sz="1200" dirty="0"/>
          </a:p>
        </p:txBody>
      </p:sp>
      <p:sp>
        <p:nvSpPr>
          <p:cNvPr id="7" name="Text 5"/>
          <p:cNvSpPr/>
          <p:nvPr/>
        </p:nvSpPr>
        <p:spPr>
          <a:xfrm>
            <a:off x="1071880" y="2717800"/>
            <a:ext cx="44370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4A8"/>
                </a:solidFill>
                <a:latin typeface="JetBrains Mono" pitchFamily="49" charset="0"/>
                <a:ea typeface="JetBrains Mono" pitchFamily="49" charset="-122"/>
                <a:cs typeface="JetBrains Mono" pitchFamily="49" charset="-120"/>
              </a:rPr>
              <a:t>  "type": "message",</a:t>
            </a:r>
            <a:endParaRPr lang="en-US" sz="1200" dirty="0"/>
          </a:p>
        </p:txBody>
      </p:sp>
      <p:sp>
        <p:nvSpPr>
          <p:cNvPr id="8" name="Text 6"/>
          <p:cNvSpPr/>
          <p:nvPr/>
        </p:nvSpPr>
        <p:spPr>
          <a:xfrm>
            <a:off x="1071880" y="2956561"/>
            <a:ext cx="44370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4A8"/>
                </a:solidFill>
                <a:latin typeface="JetBrains Mono" pitchFamily="49" charset="0"/>
                <a:ea typeface="JetBrains Mono" pitchFamily="49" charset="-122"/>
                <a:cs typeface="JetBrains Mono" pitchFamily="49" charset="-120"/>
              </a:rPr>
              <a:t>  "role": "assistant",</a:t>
            </a:r>
            <a:endParaRPr lang="en-US" sz="1200" dirty="0"/>
          </a:p>
        </p:txBody>
      </p:sp>
      <p:sp>
        <p:nvSpPr>
          <p:cNvPr id="9" name="Text 7"/>
          <p:cNvSpPr/>
          <p:nvPr/>
        </p:nvSpPr>
        <p:spPr>
          <a:xfrm>
            <a:off x="1071880" y="3195321"/>
            <a:ext cx="44370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4A8"/>
                </a:solidFill>
                <a:latin typeface="JetBrains Mono" pitchFamily="49" charset="0"/>
                <a:ea typeface="JetBrains Mono" pitchFamily="49" charset="-122"/>
                <a:cs typeface="JetBrains Mono" pitchFamily="49" charset="-120"/>
              </a:rPr>
              <a:t>  "model": "claude-sonnet-5-5",</a:t>
            </a:r>
            <a:endParaRPr lang="en-US" sz="1200" dirty="0"/>
          </a:p>
        </p:txBody>
      </p:sp>
      <p:sp>
        <p:nvSpPr>
          <p:cNvPr id="10" name="Text 8"/>
          <p:cNvSpPr/>
          <p:nvPr/>
        </p:nvSpPr>
        <p:spPr>
          <a:xfrm>
            <a:off x="1071880" y="3434082"/>
            <a:ext cx="44370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4A8"/>
                </a:solidFill>
                <a:latin typeface="JetBrains Mono" pitchFamily="49" charset="0"/>
                <a:ea typeface="JetBrains Mono" pitchFamily="49" charset="-122"/>
                <a:cs typeface="JetBrains Mono" pitchFamily="49" charset="-120"/>
              </a:rPr>
              <a:t>  "content": [{</a:t>
            </a:r>
            <a:endParaRPr lang="en-US" sz="1200" dirty="0"/>
          </a:p>
        </p:txBody>
      </p:sp>
      <p:sp>
        <p:nvSpPr>
          <p:cNvPr id="11" name="Text 9"/>
          <p:cNvSpPr/>
          <p:nvPr/>
        </p:nvSpPr>
        <p:spPr>
          <a:xfrm>
            <a:off x="1071880" y="3672839"/>
            <a:ext cx="44370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4A8"/>
                </a:solidFill>
                <a:latin typeface="JetBrains Mono" pitchFamily="49" charset="0"/>
                <a:ea typeface="JetBrains Mono" pitchFamily="49" charset="-122"/>
                <a:cs typeface="JetBrains Mono" pitchFamily="49" charset="-120"/>
              </a:rPr>
              <a:t>    "type": "text",</a:t>
            </a:r>
            <a:endParaRPr lang="en-US" sz="1200" dirty="0"/>
          </a:p>
        </p:txBody>
      </p:sp>
      <p:sp>
        <p:nvSpPr>
          <p:cNvPr id="12" name="Text 10"/>
          <p:cNvSpPr/>
          <p:nvPr/>
        </p:nvSpPr>
        <p:spPr>
          <a:xfrm>
            <a:off x="1071880" y="3911600"/>
            <a:ext cx="44370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4A8"/>
                </a:solidFill>
                <a:latin typeface="JetBrains Mono" pitchFamily="49" charset="0"/>
                <a:ea typeface="JetBrains Mono" pitchFamily="49" charset="-122"/>
                <a:cs typeface="JetBrains Mono" pitchFamily="49" charset="-120"/>
              </a:rPr>
              <a:t>    "text": </a:t>
            </a:r>
            <a:r>
              <a:rPr lang="en-US" sz="1200" b="1" dirty="0">
                <a:solidFill>
                  <a:srgbClr val="F2A541"/>
                </a:solidFill>
                <a:latin typeface="JetBrains Mono" pitchFamily="49" charset="0"/>
                <a:ea typeface="JetBrains Mono" pitchFamily="49" charset="-122"/>
                <a:cs typeface="JetBrains Mono" pitchFamily="49" charset="-120"/>
              </a:rPr>
              <a:t>"[{\"msg_id\": 0, \"customer\":</a:t>
            </a:r>
            <a:endParaRPr lang="en-US" sz="1200" dirty="0"/>
          </a:p>
        </p:txBody>
      </p:sp>
      <p:sp>
        <p:nvSpPr>
          <p:cNvPr id="13" name="Text 11"/>
          <p:cNvSpPr/>
          <p:nvPr/>
        </p:nvSpPr>
        <p:spPr>
          <a:xfrm>
            <a:off x="1071880" y="4150364"/>
            <a:ext cx="44370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4A8"/>
                </a:solidFill>
                <a:latin typeface="JetBrains Mono" pitchFamily="49" charset="0"/>
                <a:ea typeface="JetBrains Mono" pitchFamily="49" charset="-122"/>
                <a:cs typeface="JetBrains Mono" pitchFamily="49" charset="-120"/>
              </a:rPr>
              <a:t>      </a:t>
            </a:r>
            <a:r>
              <a:rPr lang="en-US" sz="1200" b="1" dirty="0">
                <a:solidFill>
                  <a:srgbClr val="F2A541"/>
                </a:solidFill>
                <a:latin typeface="JetBrains Mono" pitchFamily="49" charset="0"/>
                <a:ea typeface="JetBrains Mono" pitchFamily="49" charset="-122"/>
                <a:cs typeface="JetBrains Mono" pitchFamily="49" charset="-120"/>
              </a:rPr>
              <a:t>\"Bu Rina\", ...}, ...]"</a:t>
            </a:r>
            <a:endParaRPr lang="en-US" sz="1200" dirty="0"/>
          </a:p>
        </p:txBody>
      </p:sp>
      <p:sp>
        <p:nvSpPr>
          <p:cNvPr id="14" name="Text 12"/>
          <p:cNvSpPr/>
          <p:nvPr/>
        </p:nvSpPr>
        <p:spPr>
          <a:xfrm>
            <a:off x="1071880" y="4389121"/>
            <a:ext cx="44370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4A8"/>
                </a:solidFill>
                <a:latin typeface="JetBrains Mono" pitchFamily="49" charset="0"/>
                <a:ea typeface="JetBrains Mono" pitchFamily="49" charset="-122"/>
                <a:cs typeface="JetBrains Mono" pitchFamily="49" charset="-120"/>
              </a:rPr>
              <a:t>  }],</a:t>
            </a:r>
            <a:endParaRPr lang="en-US" sz="1200" dirty="0"/>
          </a:p>
        </p:txBody>
      </p:sp>
      <p:sp>
        <p:nvSpPr>
          <p:cNvPr id="15" name="Text 13"/>
          <p:cNvSpPr/>
          <p:nvPr/>
        </p:nvSpPr>
        <p:spPr>
          <a:xfrm>
            <a:off x="1071880" y="4627879"/>
            <a:ext cx="44370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4A8"/>
                </a:solidFill>
                <a:latin typeface="JetBrains Mono" pitchFamily="49" charset="0"/>
                <a:ea typeface="JetBrains Mono" pitchFamily="49" charset="-122"/>
                <a:cs typeface="JetBrains Mono" pitchFamily="49" charset="-120"/>
              </a:rPr>
              <a:t>  "stop_reason": </a:t>
            </a:r>
            <a:r>
              <a:rPr lang="en-US" sz="1200" b="1" dirty="0">
                <a:solidFill>
                  <a:srgbClr val="F2A541"/>
                </a:solidFill>
                <a:latin typeface="JetBrains Mono" pitchFamily="49" charset="0"/>
                <a:ea typeface="JetBrains Mono" pitchFamily="49" charset="-122"/>
                <a:cs typeface="JetBrains Mono" pitchFamily="49" charset="-120"/>
              </a:rPr>
              <a:t>"end_turn"</a:t>
            </a:r>
            <a:r>
              <a:rPr lang="en-US" sz="1200" dirty="0">
                <a:solidFill>
                  <a:srgbClr val="B9B4A8"/>
                </a:solidFill>
                <a:latin typeface="JetBrains Mono" pitchFamily="49" charset="0"/>
                <a:ea typeface="JetBrains Mono" pitchFamily="49" charset="-122"/>
                <a:cs typeface="JetBrains Mono" pitchFamily="49" charset="-120"/>
              </a:rPr>
              <a:t>,</a:t>
            </a:r>
            <a:endParaRPr lang="en-US" sz="1200" dirty="0"/>
          </a:p>
        </p:txBody>
      </p:sp>
      <p:sp>
        <p:nvSpPr>
          <p:cNvPr id="16" name="Text 14"/>
          <p:cNvSpPr/>
          <p:nvPr/>
        </p:nvSpPr>
        <p:spPr>
          <a:xfrm>
            <a:off x="1071880" y="4866642"/>
            <a:ext cx="44370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4A8"/>
                </a:solidFill>
                <a:latin typeface="JetBrains Mono" pitchFamily="49" charset="0"/>
                <a:ea typeface="JetBrains Mono" pitchFamily="49" charset="-122"/>
                <a:cs typeface="JetBrains Mono" pitchFamily="49" charset="-120"/>
              </a:rPr>
              <a:t>  "usage": {"input_tokens": </a:t>
            </a:r>
            <a:r>
              <a:rPr lang="en-US" sz="1200" b="1" dirty="0">
                <a:solidFill>
                  <a:srgbClr val="F2A541"/>
                </a:solidFill>
                <a:latin typeface="JetBrains Mono" pitchFamily="49" charset="0"/>
                <a:ea typeface="JetBrains Mono" pitchFamily="49" charset="-122"/>
                <a:cs typeface="JetBrains Mono" pitchFamily="49" charset="-120"/>
              </a:rPr>
              <a:t>612</a:t>
            </a:r>
            <a:r>
              <a:rPr lang="en-US" sz="1200" dirty="0">
                <a:solidFill>
                  <a:srgbClr val="B9B4A8"/>
                </a:solidFill>
                <a:latin typeface="JetBrains Mono" pitchFamily="49" charset="0"/>
                <a:ea typeface="JetBrains Mono" pitchFamily="49" charset="-122"/>
                <a:cs typeface="JetBrains Mono" pitchFamily="49" charset="-120"/>
              </a:rPr>
              <a:t>,</a:t>
            </a:r>
            <a:endParaRPr lang="en-US" sz="1200" dirty="0"/>
          </a:p>
        </p:txBody>
      </p:sp>
      <p:sp>
        <p:nvSpPr>
          <p:cNvPr id="17" name="Text 15"/>
          <p:cNvSpPr/>
          <p:nvPr/>
        </p:nvSpPr>
        <p:spPr>
          <a:xfrm>
            <a:off x="1071880" y="5105400"/>
            <a:ext cx="44370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4A8"/>
                </a:solidFill>
                <a:latin typeface="JetBrains Mono" pitchFamily="49" charset="0"/>
                <a:ea typeface="JetBrains Mono" pitchFamily="49" charset="-122"/>
                <a:cs typeface="JetBrains Mono" pitchFamily="49" charset="-120"/>
              </a:rPr>
              <a:t>          "output_tokens": </a:t>
            </a:r>
            <a:r>
              <a:rPr lang="en-US" sz="1200" b="1" dirty="0">
                <a:solidFill>
                  <a:srgbClr val="F2A541"/>
                </a:solidFill>
                <a:latin typeface="JetBrains Mono" pitchFamily="49" charset="0"/>
                <a:ea typeface="JetBrains Mono" pitchFamily="49" charset="-122"/>
                <a:cs typeface="JetBrains Mono" pitchFamily="49" charset="-120"/>
              </a:rPr>
              <a:t>845</a:t>
            </a:r>
            <a:r>
              <a:rPr lang="en-US" sz="1200" dirty="0">
                <a:solidFill>
                  <a:srgbClr val="B9B4A8"/>
                </a:solidFill>
                <a:latin typeface="JetBrains Mono" pitchFamily="49" charset="0"/>
                <a:ea typeface="JetBrains Mono" pitchFamily="49" charset="-122"/>
                <a:cs typeface="JetBrains Mono" pitchFamily="49" charset="-120"/>
              </a:rPr>
              <a:t>}</a:t>
            </a:r>
            <a:endParaRPr lang="en-US" sz="1200" dirty="0"/>
          </a:p>
        </p:txBody>
      </p:sp>
      <p:sp>
        <p:nvSpPr>
          <p:cNvPr id="18" name="Text 16"/>
          <p:cNvSpPr/>
          <p:nvPr/>
        </p:nvSpPr>
        <p:spPr>
          <a:xfrm>
            <a:off x="1071880" y="5344164"/>
            <a:ext cx="44370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4A8"/>
                </a:solidFill>
                <a:latin typeface="JetBrains Mono" pitchFamily="49" charset="0"/>
                <a:ea typeface="JetBrains Mono" pitchFamily="49" charset="-122"/>
                <a:cs typeface="JetBrains Mono" pitchFamily="49" charset="-120"/>
              </a:rPr>
              <a:t>}</a:t>
            </a:r>
            <a:endParaRPr lang="en-US" sz="1200" dirty="0"/>
          </a:p>
        </p:txBody>
      </p:sp>
      <p:sp>
        <p:nvSpPr>
          <p:cNvPr id="19" name="Shape 17"/>
          <p:cNvSpPr/>
          <p:nvPr/>
        </p:nvSpPr>
        <p:spPr>
          <a:xfrm>
            <a:off x="5946775" y="1984375"/>
            <a:ext cx="5429250" cy="1070610"/>
          </a:xfrm>
          <a:prstGeom prst="roundRect">
            <a:avLst>
              <a:gd name="adj" fmla="val 11566"/>
            </a:avLst>
          </a:prstGeom>
          <a:solidFill>
            <a:srgbClr val="1E2430"/>
          </a:solidFill>
          <a:ln w="6350">
            <a:solidFill>
              <a:srgbClr val="2E3644"/>
            </a:solidFill>
            <a:prstDash val="solid"/>
          </a:ln>
        </p:spPr>
      </p:sp>
      <p:sp>
        <p:nvSpPr>
          <p:cNvPr id="20" name="Text 18"/>
          <p:cNvSpPr/>
          <p:nvPr/>
        </p:nvSpPr>
        <p:spPr>
          <a:xfrm>
            <a:off x="6151880" y="2138682"/>
            <a:ext cx="516961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2A541"/>
                </a:solidFill>
                <a:latin typeface="JetBrains Mono" pitchFamily="49" charset="0"/>
                <a:ea typeface="JetBrains Mono" pitchFamily="49" charset="-122"/>
                <a:cs typeface="JetBrains Mono" pitchFamily="49" charset="-120"/>
              </a:rPr>
              <a:t>content[0].text</a:t>
            </a:r>
            <a:endParaRPr lang="en-US" sz="1400" dirty="0"/>
          </a:p>
        </p:txBody>
      </p:sp>
      <p:sp>
        <p:nvSpPr>
          <p:cNvPr id="21" name="Text 19"/>
          <p:cNvSpPr/>
          <p:nvPr/>
        </p:nvSpPr>
        <p:spPr>
          <a:xfrm>
            <a:off x="6151880" y="2402839"/>
            <a:ext cx="516961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9E4D8"/>
                </a:solidFill>
                <a:latin typeface="Space Grotesk" pitchFamily="34" charset="0"/>
                <a:ea typeface="Space Grotesk" pitchFamily="34" charset="-122"/>
                <a:cs typeface="Space Grotesk" pitchFamily="34" charset="-120"/>
              </a:rPr>
              <a:t>Satu-satunya bagian berisi jawaban. Bentuknya ikut permintaanmu; di demo, daftar JSON.</a:t>
            </a:r>
            <a:endParaRPr lang="en-US" sz="1400" dirty="0"/>
          </a:p>
        </p:txBody>
      </p:sp>
      <p:sp>
        <p:nvSpPr>
          <p:cNvPr id="22" name="Shape 20"/>
          <p:cNvSpPr/>
          <p:nvPr/>
        </p:nvSpPr>
        <p:spPr>
          <a:xfrm>
            <a:off x="5946775" y="3162936"/>
            <a:ext cx="5429250" cy="1070610"/>
          </a:xfrm>
          <a:prstGeom prst="roundRect">
            <a:avLst>
              <a:gd name="adj" fmla="val 11566"/>
            </a:avLst>
          </a:prstGeom>
          <a:solidFill>
            <a:srgbClr val="1E2430"/>
          </a:solidFill>
          <a:ln w="6350">
            <a:solidFill>
              <a:srgbClr val="2E3644"/>
            </a:solidFill>
            <a:prstDash val="solid"/>
          </a:ln>
        </p:spPr>
      </p:sp>
      <p:sp>
        <p:nvSpPr>
          <p:cNvPr id="23" name="Text 21"/>
          <p:cNvSpPr/>
          <p:nvPr/>
        </p:nvSpPr>
        <p:spPr>
          <a:xfrm>
            <a:off x="6151880" y="3317239"/>
            <a:ext cx="516961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2A541"/>
                </a:solidFill>
                <a:latin typeface="JetBrains Mono" pitchFamily="49" charset="0"/>
                <a:ea typeface="JetBrains Mono" pitchFamily="49" charset="-122"/>
                <a:cs typeface="JetBrains Mono" pitchFamily="49" charset="-120"/>
              </a:rPr>
              <a:t>stop_reason</a:t>
            </a:r>
            <a:endParaRPr lang="en-US" sz="1400" dirty="0"/>
          </a:p>
        </p:txBody>
      </p:sp>
      <p:sp>
        <p:nvSpPr>
          <p:cNvPr id="24" name="Text 22"/>
          <p:cNvSpPr/>
          <p:nvPr/>
        </p:nvSpPr>
        <p:spPr>
          <a:xfrm>
            <a:off x="6151880" y="3581400"/>
            <a:ext cx="516961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9E4D8"/>
                </a:solidFill>
                <a:latin typeface="Space Grotesk" pitchFamily="34" charset="0"/>
                <a:ea typeface="Space Grotesk" pitchFamily="34" charset="-122"/>
                <a:cs typeface="Space Grotesk" pitchFamily="34" charset="-120"/>
              </a:rPr>
              <a:t>"end_turn" berarti selesai. "max_tokens" berarti jawaban terpotong, jangan dipakai.</a:t>
            </a:r>
            <a:endParaRPr lang="en-US" sz="1400" dirty="0"/>
          </a:p>
        </p:txBody>
      </p:sp>
      <p:sp>
        <p:nvSpPr>
          <p:cNvPr id="25" name="Shape 23"/>
          <p:cNvSpPr/>
          <p:nvPr/>
        </p:nvSpPr>
        <p:spPr>
          <a:xfrm>
            <a:off x="5946775" y="4341496"/>
            <a:ext cx="5429250" cy="1070610"/>
          </a:xfrm>
          <a:prstGeom prst="roundRect">
            <a:avLst>
              <a:gd name="adj" fmla="val 11566"/>
            </a:avLst>
          </a:prstGeom>
          <a:solidFill>
            <a:srgbClr val="1E2430"/>
          </a:solidFill>
          <a:ln w="6350">
            <a:solidFill>
              <a:srgbClr val="2E3644"/>
            </a:solidFill>
            <a:prstDash val="solid"/>
          </a:ln>
        </p:spPr>
      </p:sp>
      <p:sp>
        <p:nvSpPr>
          <p:cNvPr id="26" name="Text 24"/>
          <p:cNvSpPr/>
          <p:nvPr/>
        </p:nvSpPr>
        <p:spPr>
          <a:xfrm>
            <a:off x="6151880" y="4495800"/>
            <a:ext cx="516961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2A541"/>
                </a:solidFill>
                <a:latin typeface="JetBrains Mono" pitchFamily="49" charset="0"/>
                <a:ea typeface="JetBrains Mono" pitchFamily="49" charset="-122"/>
                <a:cs typeface="JetBrains Mono" pitchFamily="49" charset="-120"/>
              </a:rPr>
              <a:t>usage</a:t>
            </a:r>
            <a:endParaRPr lang="en-US" sz="1400" dirty="0"/>
          </a:p>
        </p:txBody>
      </p:sp>
      <p:sp>
        <p:nvSpPr>
          <p:cNvPr id="27" name="Text 25"/>
          <p:cNvSpPr/>
          <p:nvPr/>
        </p:nvSpPr>
        <p:spPr>
          <a:xfrm>
            <a:off x="6151880" y="4759964"/>
            <a:ext cx="516961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9E4D8"/>
                </a:solidFill>
                <a:latin typeface="Space Grotesk" pitchFamily="34" charset="0"/>
                <a:ea typeface="Space Grotesk" pitchFamily="34" charset="-122"/>
                <a:cs typeface="Space Grotesk" pitchFamily="34" charset="-120"/>
              </a:rPr>
              <a:t>Jumlah token yang masuk dan keluar. Inilah dasar tagihannya.</a:t>
            </a:r>
            <a:endParaRPr lang="en-US" sz="1400" dirty="0"/>
          </a:p>
        </p:txBody>
      </p:sp>
      <p:sp>
        <p:nvSpPr>
          <p:cNvPr id="28" name="Text 26"/>
          <p:cNvSpPr/>
          <p:nvPr/>
        </p:nvSpPr>
        <p:spPr>
          <a:xfrm>
            <a:off x="5943600" y="5516879"/>
            <a:ext cx="5435600" cy="416560"/>
          </a:xfrm>
          <a:prstGeom prst="roundRect">
            <a:avLst>
              <a:gd name="adj" fmla="val 18293"/>
            </a:avLst>
          </a:prstGeom>
          <a:solidFill>
            <a:srgbClr val="2E3644"/>
          </a:solidFill>
          <a:ln/>
        </p:spPr>
        <p:txBody>
          <a:bodyPr wrap="square" lIns="130082" tIns="79282" rIns="0" bIns="53882" rtlCol="0" anchor="t">
            <a:normAutofit/>
          </a:bodyPr>
          <a:lstStyle/>
          <a:p>
            <a:pPr marL="0" indent="0" algn="l">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pesanan = json.loads(resp.content[0].text)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2A541"/>
        </a:solidFill>
        <a:effectLst/>
      </p:bgPr>
    </p:bg>
    <p:spTree>
      <p:nvGrpSpPr>
        <p:cNvPr id="1" name=""/>
        <p:cNvGrpSpPr/>
        <p:nvPr/>
      </p:nvGrpSpPr>
      <p:grpSpPr>
        <a:xfrm>
          <a:off x="0" y="0"/>
          <a:ext cx="0" cy="0"/>
          <a:chOff x="0" y="0"/>
          <a:chExt cx="0" cy="0"/>
        </a:xfrm>
      </p:grpSpPr>
      <p:sp>
        <p:nvSpPr>
          <p:cNvPr id="2" name="Text 0"/>
          <p:cNvSpPr/>
          <p:nvPr/>
        </p:nvSpPr>
        <p:spPr>
          <a:xfrm>
            <a:off x="812800" y="1869442"/>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81F"/>
                </a:solidFill>
                <a:latin typeface="JetBrains Mono" pitchFamily="49" charset="0"/>
                <a:ea typeface="JetBrains Mono" pitchFamily="49" charset="-122"/>
                <a:cs typeface="JetBrains Mono" pitchFamily="49" charset="-120"/>
              </a:rPr>
              <a:t>$ python demo.py</a:t>
            </a:r>
            <a:endParaRPr lang="en-US" sz="1600" dirty="0"/>
          </a:p>
        </p:txBody>
      </p:sp>
      <p:sp>
        <p:nvSpPr>
          <p:cNvPr id="3" name="Text 1"/>
          <p:cNvSpPr>
            <a:spLocks noGrp="1"/>
          </p:cNvSpPr>
          <p:nvPr>
            <p:ph type="title"/>
          </p:nvPr>
        </p:nvSpPr>
        <p:spPr>
          <a:xfrm>
            <a:off x="812800" y="2407921"/>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i="0" kern="0" spc="-100" dirty="0">
                <a:solidFill>
                  <a:srgbClr val="14181F"/>
                </a:solidFill>
                <a:latin typeface="Space Grotesk" pitchFamily="34" charset="0"/>
                <a:ea typeface="Space Grotesk" pitchFamily="34" charset="-122"/>
                <a:cs typeface="Space Grotesk" pitchFamily="34" charset="-120"/>
              </a:rPr>
              <a:t>Demo </a:t>
            </a:r>
            <a:r>
              <a:rPr lang="en-US" sz="6000" b="1" i="0" kern="0" spc="-100" dirty="0" err="1">
                <a:solidFill>
                  <a:srgbClr val="14181F"/>
                </a:solidFill>
                <a:latin typeface="Space Grotesk" pitchFamily="34" charset="0"/>
                <a:ea typeface="Space Grotesk" pitchFamily="34" charset="-122"/>
                <a:cs typeface="Space Grotesk" pitchFamily="34" charset="-120"/>
              </a:rPr>
              <a:t>langsung</a:t>
            </a:r>
            <a:r>
              <a:rPr lang="en-US" sz="6000" b="1" i="0" kern="0" spc="-100" dirty="0">
                <a:solidFill>
                  <a:srgbClr val="14181F"/>
                </a:solidFill>
                <a:latin typeface="Space Grotesk" pitchFamily="34" charset="0"/>
                <a:ea typeface="Space Grotesk" pitchFamily="34" charset="-122"/>
                <a:cs typeface="Space Grotesk" pitchFamily="34" charset="-120"/>
              </a:rPr>
              <a:t>: AI sebagai karyawan pertamamu</a:t>
            </a:r>
            <a:endParaRPr lang="en-US" sz="6000" dirty="0"/>
          </a:p>
        </p:txBody>
      </p:sp>
      <p:sp>
        <p:nvSpPr>
          <p:cNvPr id="4" name="Text 2"/>
          <p:cNvSpPr/>
          <p:nvPr/>
        </p:nvSpPr>
        <p:spPr>
          <a:xfrm>
            <a:off x="812800" y="4262121"/>
            <a:ext cx="10883392" cy="75184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4181F"/>
                </a:solidFill>
                <a:latin typeface="Space Grotesk" pitchFamily="34" charset="0"/>
                <a:ea typeface="Space Grotesk" pitchFamily="34" charset="-122"/>
                <a:cs typeface="Space Grotesk" pitchFamily="34" charset="-120"/>
              </a:rPr>
              <a:t>9 pesan order WhatsApp yang berantakan. Satu model AI. Satu skrip Python pendek.</a:t>
            </a:r>
            <a:endParaRPr lang="en-US" sz="2200" dirty="0"/>
          </a:p>
        </p:txBody>
      </p:sp>
      <p:sp>
        <p:nvSpPr>
          <p:cNvPr id="6" name="TextBox 5">
            <a:extLst>
              <a:ext uri="{FF2B5EF4-FFF2-40B4-BE49-F238E27FC236}">
                <a16:creationId xmlns:a16="http://schemas.microsoft.com/office/drawing/2014/main" id="{D571CAE8-CB16-C7AA-832A-865CE2447BC1}"/>
              </a:ext>
            </a:extLst>
          </p:cNvPr>
          <p:cNvSpPr txBox="1"/>
          <p:nvPr/>
        </p:nvSpPr>
        <p:spPr>
          <a:xfrm>
            <a:off x="725456" y="4829295"/>
            <a:ext cx="6097554" cy="584775"/>
          </a:xfrm>
          <a:prstGeom prst="rect">
            <a:avLst/>
          </a:prstGeom>
          <a:noFill/>
        </p:spPr>
        <p:txBody>
          <a:bodyPr wrap="square">
            <a:spAutoFit/>
          </a:bodyPr>
          <a:lstStyle/>
          <a:p>
            <a:r>
              <a:rPr lang="en-ID" sz="3200" dirty="0"/>
              <a:t>https://pastebin.com/YB4etUGz</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418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Selasa pagi di sebuah toko di Makassar</a:t>
            </a:r>
            <a:endParaRPr lang="en-US" sz="3600" dirty="0"/>
          </a:p>
        </p:txBody>
      </p:sp>
      <p:sp>
        <p:nvSpPr>
          <p:cNvPr id="3" name="Shape 1"/>
          <p:cNvSpPr/>
          <p:nvPr/>
        </p:nvSpPr>
        <p:spPr>
          <a:xfrm>
            <a:off x="815975" y="1622425"/>
            <a:ext cx="10560050" cy="3303270"/>
          </a:xfrm>
          <a:prstGeom prst="roundRect">
            <a:avLst>
              <a:gd name="adj" fmla="val 3749"/>
            </a:avLst>
          </a:prstGeom>
          <a:solidFill>
            <a:srgbClr val="1E2430"/>
          </a:solidFill>
          <a:ln w="6350">
            <a:solidFill>
              <a:srgbClr val="2E3644"/>
            </a:solidFill>
            <a:prstDash val="solid"/>
          </a:ln>
        </p:spPr>
      </p:sp>
      <p:sp>
        <p:nvSpPr>
          <p:cNvPr id="4" name="Text 2"/>
          <p:cNvSpPr/>
          <p:nvPr/>
        </p:nvSpPr>
        <p:spPr>
          <a:xfrm>
            <a:off x="1122680" y="1929129"/>
            <a:ext cx="1024503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A541"/>
                </a:solidFill>
                <a:latin typeface="JetBrains Mono" pitchFamily="49" charset="0"/>
                <a:ea typeface="JetBrains Mono" pitchFamily="49" charset="-122"/>
                <a:cs typeface="JetBrains Mono" pitchFamily="49" charset="-120"/>
              </a:rPr>
              <a:t>08:14 Bu Rina:</a:t>
            </a:r>
            <a:r>
              <a:rPr lang="en-US" sz="1300" dirty="0">
                <a:solidFill>
                  <a:srgbClr val="E9E4D8"/>
                </a:solidFill>
                <a:latin typeface="JetBrains Mono" pitchFamily="49" charset="0"/>
                <a:ea typeface="JetBrains Mono" pitchFamily="49" charset="-122"/>
                <a:cs typeface="JetBrains Mono" pitchFamily="49" charset="-120"/>
              </a:rPr>
              <a:t> mau pesan kopi toraja 2 bungkus sama gula aren 1kg ya</a:t>
            </a:r>
            <a:endParaRPr lang="en-US" sz="1300" dirty="0"/>
          </a:p>
        </p:txBody>
      </p:sp>
      <p:sp>
        <p:nvSpPr>
          <p:cNvPr id="5" name="Text 3"/>
          <p:cNvSpPr/>
          <p:nvPr/>
        </p:nvSpPr>
        <p:spPr>
          <a:xfrm>
            <a:off x="1122680" y="2236471"/>
            <a:ext cx="1024503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A541"/>
                </a:solidFill>
                <a:latin typeface="JetBrains Mono" pitchFamily="49" charset="0"/>
                <a:ea typeface="JetBrains Mono" pitchFamily="49" charset="-122"/>
                <a:cs typeface="JetBrains Mono" pitchFamily="49" charset="-120"/>
              </a:rPr>
              <a:t>08:20 Pak Andi:</a:t>
            </a:r>
            <a:r>
              <a:rPr lang="en-US" sz="1300" dirty="0">
                <a:solidFill>
                  <a:srgbClr val="E9E4D8"/>
                </a:solidFill>
                <a:latin typeface="JetBrains Mono" pitchFamily="49" charset="0"/>
                <a:ea typeface="JetBrains Mono" pitchFamily="49" charset="-122"/>
                <a:cs typeface="JetBrains Mono" pitchFamily="49" charset="-120"/>
              </a:rPr>
              <a:t> kak saya order kopi kalosi 3, yg 250gr</a:t>
            </a:r>
            <a:endParaRPr lang="en-US" sz="1300" dirty="0"/>
          </a:p>
        </p:txBody>
      </p:sp>
      <p:sp>
        <p:nvSpPr>
          <p:cNvPr id="6" name="Text 4"/>
          <p:cNvSpPr/>
          <p:nvPr/>
        </p:nvSpPr>
        <p:spPr>
          <a:xfrm>
            <a:off x="1122680" y="2543814"/>
            <a:ext cx="1024503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A541"/>
                </a:solidFill>
                <a:latin typeface="JetBrains Mono" pitchFamily="49" charset="0"/>
                <a:ea typeface="JetBrains Mono" pitchFamily="49" charset="-122"/>
                <a:cs typeface="JetBrains Mono" pitchFamily="49" charset="-120"/>
              </a:rPr>
              <a:t>08:21 Pak Andi:</a:t>
            </a:r>
            <a:r>
              <a:rPr lang="en-US" sz="1300" dirty="0">
                <a:solidFill>
                  <a:srgbClr val="E9E4D8"/>
                </a:solidFill>
                <a:latin typeface="JetBrains Mono" pitchFamily="49" charset="0"/>
                <a:ea typeface="JetBrains Mono" pitchFamily="49" charset="-122"/>
                <a:cs typeface="JetBrains Mono" pitchFamily="49" charset="-120"/>
              </a:rPr>
              <a:t> kak saya order kopi kalosi 3, yg 250gr</a:t>
            </a:r>
            <a:endParaRPr lang="en-US" sz="1300" dirty="0"/>
          </a:p>
        </p:txBody>
      </p:sp>
      <p:sp>
        <p:nvSpPr>
          <p:cNvPr id="7" name="Text 5"/>
          <p:cNvSpPr/>
          <p:nvPr/>
        </p:nvSpPr>
        <p:spPr>
          <a:xfrm>
            <a:off x="1122680" y="2851150"/>
            <a:ext cx="1024503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A541"/>
                </a:solidFill>
                <a:latin typeface="JetBrains Mono" pitchFamily="49" charset="0"/>
                <a:ea typeface="JetBrains Mono" pitchFamily="49" charset="-122"/>
                <a:cs typeface="JetBrains Mono" pitchFamily="49" charset="-120"/>
              </a:rPr>
              <a:t>09:02 Dewi:</a:t>
            </a:r>
            <a:r>
              <a:rPr lang="en-US" sz="1300" dirty="0">
                <a:solidFill>
                  <a:srgbClr val="E9E4D8"/>
                </a:solidFill>
                <a:latin typeface="JetBrains Mono" pitchFamily="49" charset="0"/>
                <a:ea typeface="JetBrains Mono" pitchFamily="49" charset="-122"/>
                <a:cs typeface="JetBrains Mono" pitchFamily="49" charset="-120"/>
              </a:rPr>
              <a:t> pisang epe 5 porsi + es pallubutung 5 ya</a:t>
            </a:r>
            <a:endParaRPr lang="en-US" sz="1300" dirty="0"/>
          </a:p>
        </p:txBody>
      </p:sp>
      <p:sp>
        <p:nvSpPr>
          <p:cNvPr id="8" name="Text 6"/>
          <p:cNvSpPr/>
          <p:nvPr/>
        </p:nvSpPr>
        <p:spPr>
          <a:xfrm>
            <a:off x="1122680" y="3158492"/>
            <a:ext cx="1024503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A541"/>
                </a:solidFill>
                <a:latin typeface="JetBrains Mono" pitchFamily="49" charset="0"/>
                <a:ea typeface="JetBrains Mono" pitchFamily="49" charset="-122"/>
                <a:cs typeface="JetBrains Mono" pitchFamily="49" charset="-120"/>
              </a:rPr>
              <a:t>09:45 Pak Hasan:</a:t>
            </a:r>
            <a:r>
              <a:rPr lang="en-US" sz="1300" dirty="0">
                <a:solidFill>
                  <a:srgbClr val="E9E4D8"/>
                </a:solidFill>
                <a:latin typeface="JetBrains Mono" pitchFamily="49" charset="0"/>
                <a:ea typeface="JetBrains Mono" pitchFamily="49" charset="-122"/>
                <a:cs typeface="JetBrains Mono" pitchFamily="49" charset="-120"/>
              </a:rPr>
              <a:t> kopi toraja sepuluh bungkus utk kantor</a:t>
            </a:r>
            <a:endParaRPr lang="en-US" sz="1300" dirty="0"/>
          </a:p>
        </p:txBody>
      </p:sp>
      <p:sp>
        <p:nvSpPr>
          <p:cNvPr id="9" name="Text 7"/>
          <p:cNvSpPr/>
          <p:nvPr/>
        </p:nvSpPr>
        <p:spPr>
          <a:xfrm>
            <a:off x="1122680" y="3465829"/>
            <a:ext cx="1024503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A541"/>
                </a:solidFill>
                <a:latin typeface="JetBrains Mono" pitchFamily="49" charset="0"/>
                <a:ea typeface="JetBrains Mono" pitchFamily="49" charset="-122"/>
                <a:cs typeface="JetBrains Mono" pitchFamily="49" charset="-120"/>
              </a:rPr>
              <a:t>10:10 Bu Rina:</a:t>
            </a:r>
            <a:r>
              <a:rPr lang="en-US" sz="1300" dirty="0">
                <a:solidFill>
                  <a:srgbClr val="E9E4D8"/>
                </a:solidFill>
                <a:latin typeface="JetBrains Mono" pitchFamily="49" charset="0"/>
                <a:ea typeface="JetBrains Mono" pitchFamily="49" charset="-122"/>
                <a:cs typeface="JetBrains Mono" pitchFamily="49" charset="-120"/>
              </a:rPr>
              <a:t> kak maaf ralat, gula arennya jadi 2kg aja</a:t>
            </a:r>
            <a:endParaRPr lang="en-US" sz="1300" dirty="0"/>
          </a:p>
        </p:txBody>
      </p:sp>
      <p:sp>
        <p:nvSpPr>
          <p:cNvPr id="10" name="Text 8"/>
          <p:cNvSpPr/>
          <p:nvPr/>
        </p:nvSpPr>
        <p:spPr>
          <a:xfrm>
            <a:off x="1122680" y="3773171"/>
            <a:ext cx="1024503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A541"/>
                </a:solidFill>
                <a:latin typeface="JetBrains Mono" pitchFamily="49" charset="0"/>
                <a:ea typeface="JetBrains Mono" pitchFamily="49" charset="-122"/>
                <a:cs typeface="JetBrains Mono" pitchFamily="49" charset="-120"/>
              </a:rPr>
              <a:t>10:30 Fajar:</a:t>
            </a:r>
            <a:r>
              <a:rPr lang="en-US" sz="1300" dirty="0">
                <a:solidFill>
                  <a:srgbClr val="E9E4D8"/>
                </a:solidFill>
                <a:latin typeface="JetBrains Mono" pitchFamily="49" charset="0"/>
                <a:ea typeface="JetBrains Mono" pitchFamily="49" charset="-122"/>
                <a:cs typeface="JetBrains Mono" pitchFamily="49" charset="-120"/>
              </a:rPr>
              <a:t> ada coklat batang polewali? mau 4 kalau ada</a:t>
            </a:r>
            <a:endParaRPr lang="en-US" sz="1300" dirty="0"/>
          </a:p>
        </p:txBody>
      </p:sp>
      <p:sp>
        <p:nvSpPr>
          <p:cNvPr id="11" name="Text 9"/>
          <p:cNvSpPr/>
          <p:nvPr/>
        </p:nvSpPr>
        <p:spPr>
          <a:xfrm>
            <a:off x="1122680" y="4080514"/>
            <a:ext cx="1024503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A541"/>
                </a:solidFill>
                <a:latin typeface="JetBrains Mono" pitchFamily="49" charset="0"/>
                <a:ea typeface="JetBrains Mono" pitchFamily="49" charset="-122"/>
                <a:cs typeface="JetBrains Mono" pitchFamily="49" charset="-120"/>
              </a:rPr>
              <a:t>11:05 Mira:</a:t>
            </a:r>
            <a:r>
              <a:rPr lang="en-US" sz="1300" dirty="0">
                <a:solidFill>
                  <a:srgbClr val="E9E4D8"/>
                </a:solidFill>
                <a:latin typeface="JetBrains Mono" pitchFamily="49" charset="0"/>
                <a:ea typeface="JetBrains Mono" pitchFamily="49" charset="-122"/>
                <a:cs typeface="JetBrains Mono" pitchFamily="49" charset="-120"/>
              </a:rPr>
              <a:t> kopi toraja -1 bungkus</a:t>
            </a:r>
            <a:endParaRPr lang="en-US" sz="1300" dirty="0"/>
          </a:p>
        </p:txBody>
      </p:sp>
      <p:sp>
        <p:nvSpPr>
          <p:cNvPr id="12" name="Text 10"/>
          <p:cNvSpPr/>
          <p:nvPr/>
        </p:nvSpPr>
        <p:spPr>
          <a:xfrm>
            <a:off x="1122680" y="4387850"/>
            <a:ext cx="1024503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A541"/>
                </a:solidFill>
                <a:latin typeface="JetBrains Mono" pitchFamily="49" charset="0"/>
                <a:ea typeface="JetBrains Mono" pitchFamily="49" charset="-122"/>
                <a:cs typeface="JetBrains Mono" pitchFamily="49" charset="-120"/>
              </a:rPr>
              <a:t>11:05 Mira:</a:t>
            </a:r>
            <a:r>
              <a:rPr lang="en-US" sz="1300" dirty="0">
                <a:solidFill>
                  <a:srgbClr val="E9E4D8"/>
                </a:solidFill>
                <a:latin typeface="JetBrains Mono" pitchFamily="49" charset="0"/>
                <a:ea typeface="JetBrains Mono" pitchFamily="49" charset="-122"/>
                <a:cs typeface="JetBrains Mono" pitchFamily="49" charset="-120"/>
              </a:rPr>
              <a:t> wkwk salah ketik, maksudnya 1</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58521"/>
            <a:ext cx="6414023" cy="30988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2F6E9E"/>
                </a:solidFill>
                <a:latin typeface="Space Grotesk" pitchFamily="34" charset="0"/>
                <a:ea typeface="Space Grotesk" pitchFamily="34" charset="-122"/>
                <a:cs typeface="Space Grotesk" pitchFamily="34" charset="-120"/>
              </a:rPr>
              <a:t>BABAK 1 · PERCAYA PENUH PADA AI</a:t>
            </a:r>
            <a:endParaRPr lang="en-US" sz="1600" dirty="0"/>
          </a:p>
        </p:txBody>
      </p:sp>
      <p:sp>
        <p:nvSpPr>
          <p:cNvPr id="3" name="Text 1"/>
          <p:cNvSpPr/>
          <p:nvPr/>
        </p:nvSpPr>
        <p:spPr>
          <a:xfrm>
            <a:off x="812800" y="1244600"/>
            <a:ext cx="747264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B1F27"/>
                </a:solidFill>
                <a:latin typeface="Space Grotesk" pitchFamily="34" charset="0"/>
                <a:ea typeface="Space Grotesk" pitchFamily="34" charset="-122"/>
                <a:cs typeface="Space Grotesk" pitchFamily="34" charset="-120"/>
              </a:rPr>
              <a:t>Berani langsung kirim ini ke bagian keuangan?</a:t>
            </a:r>
            <a:endParaRPr lang="en-US" sz="2200" dirty="0"/>
          </a:p>
        </p:txBody>
      </p:sp>
      <p:sp>
        <p:nvSpPr>
          <p:cNvPr id="4" name="Text 2"/>
          <p:cNvSpPr/>
          <p:nvPr/>
        </p:nvSpPr>
        <p:spPr>
          <a:xfrm>
            <a:off x="10156190" y="812800"/>
            <a:ext cx="122301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55"/>
                </a:solidFill>
                <a:latin typeface="Space Grotesk" pitchFamily="34" charset="0"/>
                <a:ea typeface="Space Grotesk" pitchFamily="34" charset="-122"/>
                <a:cs typeface="Space Grotesk" pitchFamily="34" charset="-120"/>
              </a:rPr>
              <a:t>Omzet versi AI</a:t>
            </a:r>
            <a:endParaRPr lang="en-US" sz="1200" dirty="0"/>
          </a:p>
        </p:txBody>
      </p:sp>
      <p:sp>
        <p:nvSpPr>
          <p:cNvPr id="5" name="Text 3"/>
          <p:cNvSpPr/>
          <p:nvPr/>
        </p:nvSpPr>
        <p:spPr>
          <a:xfrm>
            <a:off x="8492411" y="1076964"/>
            <a:ext cx="2973393" cy="528320"/>
          </a:xfrm>
          <a:prstGeom prst="rect">
            <a:avLst/>
          </a:prstGeom>
          <a:noFill/>
          <a:ln/>
        </p:spPr>
        <p:txBody>
          <a:bodyPr wrap="none" lIns="0" tIns="0" rIns="0" bIns="0" rtlCol="0" anchor="t">
            <a:normAutofit/>
          </a:bodyPr>
          <a:lstStyle/>
          <a:p>
            <a:pPr marL="0" indent="0" algn="l">
              <a:lnSpc>
                <a:spcPts val="3960"/>
              </a:lnSpc>
              <a:buNone/>
            </a:pPr>
            <a:r>
              <a:rPr lang="en-US" sz="3600" b="1" dirty="0">
                <a:solidFill>
                  <a:srgbClr val="1B1F27"/>
                </a:solidFill>
                <a:latin typeface="Space Grotesk" pitchFamily="34" charset="0"/>
                <a:ea typeface="Space Grotesk" pitchFamily="34" charset="-122"/>
                <a:cs typeface="Space Grotesk" pitchFamily="34" charset="-120"/>
              </a:rPr>
              <a:t>Rp 1.925.000</a:t>
            </a:r>
            <a:endParaRPr lang="en-US" sz="3600" dirty="0"/>
          </a:p>
        </p:txBody>
      </p:sp>
      <p:sp>
        <p:nvSpPr>
          <p:cNvPr id="6" name="Shape 4"/>
          <p:cNvSpPr/>
          <p:nvPr/>
        </p:nvSpPr>
        <p:spPr>
          <a:xfrm>
            <a:off x="812800" y="1838959"/>
            <a:ext cx="7340600" cy="0"/>
          </a:xfrm>
          <a:prstGeom prst="line">
            <a:avLst/>
          </a:prstGeom>
          <a:noFill/>
          <a:ln w="10160">
            <a:solidFill>
              <a:srgbClr val="141413">
                <a:alpha val="22000"/>
              </a:srgbClr>
            </a:solidFill>
            <a:prstDash val="solid"/>
          </a:ln>
        </p:spPr>
      </p:sp>
      <p:sp>
        <p:nvSpPr>
          <p:cNvPr id="7" name="Shape 5"/>
          <p:cNvSpPr/>
          <p:nvPr/>
        </p:nvSpPr>
        <p:spPr>
          <a:xfrm>
            <a:off x="817880" y="1833879"/>
            <a:ext cx="0" cy="4074160"/>
          </a:xfrm>
          <a:prstGeom prst="line">
            <a:avLst/>
          </a:prstGeom>
          <a:noFill/>
          <a:ln w="10160">
            <a:solidFill>
              <a:srgbClr val="141413">
                <a:alpha val="22000"/>
              </a:srgbClr>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86460" y="1894839"/>
          <a:ext cx="7203440" cy="3962400"/>
        </p:xfrm>
        <a:graphic>
          <a:graphicData uri="http://schemas.openxmlformats.org/drawingml/2006/table">
            <a:tbl>
              <a:tblPr/>
              <a:tblGrid>
                <a:gridCol w="1008482">
                  <a:extLst>
                    <a:ext uri="{9D8B030D-6E8A-4147-A177-3AD203B41FA5}">
                      <a16:colId xmlns:a16="http://schemas.microsoft.com/office/drawing/2014/main" val="20000"/>
                    </a:ext>
                  </a:extLst>
                </a:gridCol>
                <a:gridCol w="2377135">
                  <a:extLst>
                    <a:ext uri="{9D8B030D-6E8A-4147-A177-3AD203B41FA5}">
                      <a16:colId xmlns:a16="http://schemas.microsoft.com/office/drawing/2014/main" val="20001"/>
                    </a:ext>
                  </a:extLst>
                </a:gridCol>
                <a:gridCol w="1440688">
                  <a:extLst>
                    <a:ext uri="{9D8B030D-6E8A-4147-A177-3AD203B41FA5}">
                      <a16:colId xmlns:a16="http://schemas.microsoft.com/office/drawing/2014/main" val="20002"/>
                    </a:ext>
                  </a:extLst>
                </a:gridCol>
                <a:gridCol w="1224585">
                  <a:extLst>
                    <a:ext uri="{9D8B030D-6E8A-4147-A177-3AD203B41FA5}">
                      <a16:colId xmlns:a16="http://schemas.microsoft.com/office/drawing/2014/main" val="20003"/>
                    </a:ext>
                  </a:extLst>
                </a:gridCol>
                <a:gridCol w="1152550">
                  <a:extLst>
                    <a:ext uri="{9D8B030D-6E8A-4147-A177-3AD203B41FA5}">
                      <a16:colId xmlns:a16="http://schemas.microsoft.com/office/drawing/2014/main" val="20004"/>
                    </a:ext>
                  </a:extLst>
                </a:gridCol>
              </a:tblGrid>
              <a:tr h="330200">
                <a:tc>
                  <a:txBody>
                    <a:bodyPr/>
                    <a:lstStyle/>
                    <a:p>
                      <a:pPr marL="0" indent="0">
                        <a:lnSpc>
                          <a:spcPts val="1680"/>
                        </a:lnSpc>
                        <a:buNone/>
                      </a:pPr>
                      <a:r>
                        <a:rPr lang="en-US" sz="1200" b="1" dirty="0">
                          <a:solidFill>
                            <a:srgbClr val="2F6E9E"/>
                          </a:solidFill>
                          <a:latin typeface="Space Grotesk" pitchFamily="34" charset="0"/>
                          <a:ea typeface="Space Grotesk" pitchFamily="34" charset="-122"/>
                          <a:cs typeface="Space Grotesk" pitchFamily="34" charset="-120"/>
                        </a:rPr>
                        <a:t>Dari</a:t>
                      </a:r>
                      <a:endParaRPr lang="en-US" sz="1200" dirty="0">
                        <a:latin typeface="Space Grotesk" charset="0"/>
                        <a:ea typeface="Space Grotesk" charset="0"/>
                        <a:cs typeface="Space Grotesk" charset="0"/>
                      </a:endParaRPr>
                    </a:p>
                  </a:txBody>
                  <a:tcPr marL="53340" marR="53340" marT="53340" marB="53340">
                    <a:lnL w="0" cap="flat" cmpd="sng" algn="ctr">
                      <a:noFill/>
                    </a:lnL>
                    <a:lnR w="12700" cap="flat" cmpd="sng" algn="ctr">
                      <a:solidFill>
                        <a:srgbClr val="B5B2AD"/>
                      </a:solidFill>
                      <a:prstDash val="solid"/>
                      <a:round/>
                      <a:headEnd type="none" w="med" len="med"/>
                      <a:tailEnd type="none" w="med" len="med"/>
                    </a:lnR>
                    <a:lnT w="0" cap="flat" cmpd="sng" algn="ctr">
                      <a:noFill/>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1680"/>
                        </a:lnSpc>
                        <a:buNone/>
                      </a:pPr>
                      <a:r>
                        <a:rPr lang="en-US" sz="1200" b="1" dirty="0">
                          <a:solidFill>
                            <a:srgbClr val="2F6E9E"/>
                          </a:solidFill>
                          <a:latin typeface="Space Grotesk" pitchFamily="34" charset="0"/>
                          <a:ea typeface="Space Grotesk" pitchFamily="34" charset="-122"/>
                          <a:cs typeface="Space Grotesk" pitchFamily="34" charset="-120"/>
                        </a:rPr>
                        <a:t>Teks pesan</a:t>
                      </a:r>
                      <a:endParaRPr lang="en-US" sz="1200" dirty="0">
                        <a:latin typeface="Space Grotesk" charset="0"/>
                        <a:ea typeface="Space Grotesk" charset="0"/>
                        <a:cs typeface="Space Grotesk"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0" cap="flat" cmpd="sng" algn="ctr">
                      <a:noFill/>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1680"/>
                        </a:lnSpc>
                        <a:buNone/>
                      </a:pPr>
                      <a:r>
                        <a:rPr lang="en-US" sz="1200" b="1" dirty="0">
                          <a:solidFill>
                            <a:srgbClr val="2F6E9E"/>
                          </a:solidFill>
                          <a:latin typeface="Space Grotesk" pitchFamily="34" charset="0"/>
                          <a:ea typeface="Space Grotesk" pitchFamily="34" charset="-122"/>
                          <a:cs typeface="Space Grotesk" pitchFamily="34" charset="-120"/>
                        </a:rPr>
                        <a:t>Produk</a:t>
                      </a:r>
                      <a:endParaRPr lang="en-US" sz="1200" dirty="0">
                        <a:latin typeface="Space Grotesk" charset="0"/>
                        <a:ea typeface="Space Grotesk" charset="0"/>
                        <a:cs typeface="Space Grotesk"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0" cap="flat" cmpd="sng" algn="ctr">
                      <a:noFill/>
                    </a:lnT>
                    <a:lnB w="12700" cap="flat" cmpd="sng" algn="ctr">
                      <a:solidFill>
                        <a:srgbClr val="B5B2AD"/>
                      </a:solidFill>
                      <a:prstDash val="solid"/>
                      <a:round/>
                      <a:headEnd type="none" w="med" len="med"/>
                      <a:tailEnd type="none" w="med" len="med"/>
                    </a:lnB>
                    <a:solidFill>
                      <a:srgbClr val="E2DFD9"/>
                    </a:solidFill>
                  </a:tcPr>
                </a:tc>
                <a:tc>
                  <a:txBody>
                    <a:bodyPr/>
                    <a:lstStyle/>
                    <a:p>
                      <a:pPr marL="0" indent="0" algn="r">
                        <a:lnSpc>
                          <a:spcPts val="1680"/>
                        </a:lnSpc>
                        <a:buNone/>
                      </a:pPr>
                      <a:r>
                        <a:rPr lang="en-US" sz="1200" b="1" dirty="0">
                          <a:solidFill>
                            <a:srgbClr val="2F6E9E"/>
                          </a:solidFill>
                          <a:latin typeface="Space Grotesk" pitchFamily="34" charset="0"/>
                          <a:ea typeface="Space Grotesk" pitchFamily="34" charset="-122"/>
                          <a:cs typeface="Space Grotesk" pitchFamily="34" charset="-120"/>
                        </a:rPr>
                        <a:t>Qty × harga</a:t>
                      </a:r>
                      <a:endParaRPr lang="en-US" sz="1200" dirty="0">
                        <a:latin typeface="Space Grotesk" charset="0"/>
                        <a:ea typeface="Space Grotesk" charset="0"/>
                        <a:cs typeface="Space Grotesk"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0" cap="flat" cmpd="sng" algn="ctr">
                      <a:noFill/>
                    </a:lnT>
                    <a:lnB w="12700" cap="flat" cmpd="sng" algn="ctr">
                      <a:solidFill>
                        <a:srgbClr val="B5B2AD"/>
                      </a:solidFill>
                      <a:prstDash val="solid"/>
                      <a:round/>
                      <a:headEnd type="none" w="med" len="med"/>
                      <a:tailEnd type="none" w="med" len="med"/>
                    </a:lnB>
                    <a:solidFill>
                      <a:srgbClr val="E2DFD9"/>
                    </a:solidFill>
                  </a:tcPr>
                </a:tc>
                <a:tc>
                  <a:txBody>
                    <a:bodyPr/>
                    <a:lstStyle/>
                    <a:p>
                      <a:pPr marL="0" indent="0" algn="r">
                        <a:lnSpc>
                          <a:spcPts val="1680"/>
                        </a:lnSpc>
                        <a:buNone/>
                      </a:pPr>
                      <a:r>
                        <a:rPr lang="en-US" sz="1200" b="1" dirty="0">
                          <a:solidFill>
                            <a:srgbClr val="2F6E9E"/>
                          </a:solidFill>
                          <a:latin typeface="Space Grotesk" pitchFamily="34" charset="0"/>
                          <a:ea typeface="Space Grotesk" pitchFamily="34" charset="-122"/>
                          <a:cs typeface="Space Grotesk" pitchFamily="34" charset="-120"/>
                        </a:rPr>
                        <a:t>Total</a:t>
                      </a:r>
                      <a:endParaRPr lang="en-US" sz="1200" dirty="0">
                        <a:latin typeface="Space Grotesk" charset="0"/>
                        <a:ea typeface="Space Grotesk" charset="0"/>
                        <a:cs typeface="Space Grotesk"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0" cap="flat" cmpd="sng" algn="ctr">
                      <a:noFill/>
                    </a:lnT>
                    <a:lnB w="12700" cap="flat" cmpd="sng" algn="ctr">
                      <a:solidFill>
                        <a:srgbClr val="B5B2AD"/>
                      </a:solidFill>
                      <a:prstDash val="solid"/>
                      <a:round/>
                      <a:headEnd type="none" w="med" len="med"/>
                      <a:tailEnd type="none" w="med" len="med"/>
                    </a:lnB>
                    <a:solidFill>
                      <a:srgbClr val="E2DFD9"/>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Bu Rina</a:t>
                      </a:r>
                      <a:endParaRPr lang="en-US" sz="1200" dirty="0">
                        <a:latin typeface="Space Grotesk" charset="0"/>
                        <a:ea typeface="Space Grotesk" charset="0"/>
                        <a:cs typeface="Space Grotesk" charset="0"/>
                      </a:endParaRPr>
                    </a:p>
                  </a:txBody>
                  <a:tcPr marL="53340" marR="53340" marT="53340" marB="53340">
                    <a:lnL w="0" cap="flat" cmpd="sng" algn="ctr">
                      <a:noFill/>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kopi toraja 2 bungkus</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Kopi Toraja</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2 × 85.000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Rp 170.000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Bu Rina</a:t>
                      </a:r>
                      <a:endParaRPr lang="en-US" sz="1200" dirty="0">
                        <a:latin typeface="Space Grotesk" charset="0"/>
                        <a:ea typeface="Space Grotesk" charset="0"/>
                        <a:cs typeface="Space Grotesk" charset="0"/>
                      </a:endParaRPr>
                    </a:p>
                  </a:txBody>
                  <a:tcPr marL="53340" marR="53340" marT="53340" marB="53340">
                    <a:lnL w="0" cap="flat" cmpd="sng" algn="ctr">
                      <a:noFill/>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gula aren 1kg</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Gula Aren</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1 × 40.000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Rp 40.000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Pak Andi</a:t>
                      </a:r>
                      <a:endParaRPr lang="en-US" sz="1200" dirty="0">
                        <a:latin typeface="Space Grotesk" charset="0"/>
                        <a:ea typeface="Space Grotesk" charset="0"/>
                        <a:cs typeface="Space Grotesk" charset="0"/>
                      </a:endParaRPr>
                    </a:p>
                  </a:txBody>
                  <a:tcPr marL="53340" marR="53340" marT="53340" marB="53340">
                    <a:lnL w="0" cap="flat" cmpd="sng" algn="ctr">
                      <a:noFill/>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kopi kalosi 3, yg 250gr</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Kopi Kalosi</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3 × 75.000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Rp 225.000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Pak Andi</a:t>
                      </a:r>
                      <a:endParaRPr lang="en-US" sz="1200" dirty="0">
                        <a:latin typeface="Space Grotesk" charset="0"/>
                        <a:ea typeface="Space Grotesk" charset="0"/>
                        <a:cs typeface="Space Grotesk" charset="0"/>
                      </a:endParaRPr>
                    </a:p>
                  </a:txBody>
                  <a:tcPr marL="53340" marR="53340" marT="53340" marB="53340">
                    <a:lnL w="0" cap="flat" cmpd="sng" algn="ctr">
                      <a:noFill/>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kopi kalosi 3, yg 250gr</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Kopi Kalosi</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3 × 75.000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Rp 225.000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Dewi</a:t>
                      </a:r>
                      <a:endParaRPr lang="en-US" sz="1200" dirty="0">
                        <a:latin typeface="Space Grotesk" charset="0"/>
                        <a:ea typeface="Space Grotesk" charset="0"/>
                        <a:cs typeface="Space Grotesk" charset="0"/>
                      </a:endParaRPr>
                    </a:p>
                  </a:txBody>
                  <a:tcPr marL="53340" marR="53340" marT="53340" marB="53340">
                    <a:lnL w="0" cap="flat" cmpd="sng" algn="ctr">
                      <a:noFill/>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pisang epe 5 porsi</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Pisang Epe</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5 × 15.000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Rp 75.000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Dewi</a:t>
                      </a:r>
                      <a:endParaRPr lang="en-US" sz="1200" dirty="0">
                        <a:latin typeface="Space Grotesk" charset="0"/>
                        <a:ea typeface="Space Grotesk" charset="0"/>
                        <a:cs typeface="Space Grotesk" charset="0"/>
                      </a:endParaRPr>
                    </a:p>
                  </a:txBody>
                  <a:tcPr marL="53340" marR="53340" marT="53340" marB="53340">
                    <a:lnL w="0" cap="flat" cmpd="sng" algn="ctr">
                      <a:noFill/>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es pallubutung 5</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Es Pallubutung</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5 × 18.000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Rp 90.000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Pak Hasan</a:t>
                      </a:r>
                      <a:endParaRPr lang="en-US" sz="1200" dirty="0">
                        <a:latin typeface="Space Grotesk" charset="0"/>
                        <a:ea typeface="Space Grotesk" charset="0"/>
                        <a:cs typeface="Space Grotesk" charset="0"/>
                      </a:endParaRPr>
                    </a:p>
                  </a:txBody>
                  <a:tcPr marL="53340" marR="53340" marT="53340" marB="53340">
                    <a:lnL w="0" cap="flat" cmpd="sng" algn="ctr">
                      <a:noFill/>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kopi toraja sepuluh</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Kopi Toraja</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10 × 85.000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Rp 850.000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7"/>
                  </a:ext>
                </a:extLst>
              </a:tr>
              <a:tr h="330200">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Bu Rina</a:t>
                      </a:r>
                      <a:endParaRPr lang="en-US" sz="1200" dirty="0">
                        <a:latin typeface="Space Grotesk" charset="0"/>
                        <a:ea typeface="Space Grotesk" charset="0"/>
                        <a:cs typeface="Space Grotesk" charset="0"/>
                      </a:endParaRPr>
                    </a:p>
                  </a:txBody>
                  <a:tcPr marL="53340" marR="53340" marT="53340" marB="53340">
                    <a:lnL w="0" cap="flat" cmpd="sng" algn="ctr">
                      <a:noFill/>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ralat, gula aren 2kg</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Gula Aren</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2 × 40.000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Rp 80.000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8"/>
                  </a:ext>
                </a:extLst>
              </a:tr>
              <a:tr h="330200">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Fajar</a:t>
                      </a:r>
                      <a:endParaRPr lang="en-US" sz="1200" dirty="0">
                        <a:latin typeface="Space Grotesk" charset="0"/>
                        <a:ea typeface="Space Grotesk" charset="0"/>
                        <a:cs typeface="Space Grotesk" charset="0"/>
                      </a:endParaRPr>
                    </a:p>
                  </a:txBody>
                  <a:tcPr marL="53340" marR="53340" marT="53340" marB="53340">
                    <a:lnL w="0" cap="flat" cmpd="sng" algn="ctr">
                      <a:noFill/>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coklat polewali? mau 4</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tidak ada</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4 × 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Rp 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9"/>
                  </a:ext>
                </a:extLst>
              </a:tr>
              <a:tr h="330200">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Mira</a:t>
                      </a:r>
                      <a:endParaRPr lang="en-US" sz="1200" dirty="0">
                        <a:latin typeface="Space Grotesk" charset="0"/>
                        <a:ea typeface="Space Grotesk" charset="0"/>
                        <a:cs typeface="Space Grotesk" charset="0"/>
                      </a:endParaRPr>
                    </a:p>
                  </a:txBody>
                  <a:tcPr marL="53340" marR="53340" marT="53340" marB="53340">
                    <a:lnL w="0" cap="flat" cmpd="sng" algn="ctr">
                      <a:noFill/>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kopi toraja -1 bungkus</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Kopi Toraja</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1 × 85.000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Rp 85.000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10"/>
                  </a:ext>
                </a:extLst>
              </a:tr>
              <a:tr h="330200">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Mira</a:t>
                      </a:r>
                      <a:endParaRPr lang="en-US" sz="1200" dirty="0">
                        <a:latin typeface="Space Grotesk" charset="0"/>
                        <a:ea typeface="Space Grotesk" charset="0"/>
                        <a:cs typeface="Space Grotesk" charset="0"/>
                      </a:endParaRPr>
                    </a:p>
                  </a:txBody>
                  <a:tcPr marL="53340" marR="53340" marT="53340" marB="53340">
                    <a:lnL w="0" cap="flat" cmpd="sng" algn="ctr">
                      <a:noFill/>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salah ketik, maksudnya 1</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Kopi Toraja</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1 × 85.000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Rp 85.000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9" name="Shape 6"/>
          <p:cNvSpPr/>
          <p:nvPr/>
        </p:nvSpPr>
        <p:spPr>
          <a:xfrm>
            <a:off x="8461375" y="1837054"/>
            <a:ext cx="2914650" cy="3397250"/>
          </a:xfrm>
          <a:prstGeom prst="roundRect">
            <a:avLst>
              <a:gd name="adj" fmla="val 4248"/>
            </a:avLst>
          </a:prstGeom>
          <a:solidFill>
            <a:srgbClr val="FFFDF8"/>
          </a:solidFill>
          <a:ln w="6350">
            <a:solidFill>
              <a:srgbClr val="E2DCCD"/>
            </a:solidFill>
            <a:prstDash val="solid"/>
          </a:ln>
        </p:spPr>
      </p:sp>
      <p:sp>
        <p:nvSpPr>
          <p:cNvPr id="10" name="Text 7"/>
          <p:cNvSpPr/>
          <p:nvPr/>
        </p:nvSpPr>
        <p:spPr>
          <a:xfrm>
            <a:off x="8666480" y="2042164"/>
            <a:ext cx="2579573"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F6E9E"/>
                </a:solidFill>
                <a:latin typeface="Space Grotesk" pitchFamily="34" charset="0"/>
                <a:ea typeface="Space Grotesk" pitchFamily="34" charset="-122"/>
                <a:cs typeface="Space Grotesk" pitchFamily="34" charset="-120"/>
              </a:rPr>
              <a:t>Harga katalog (Rp)</a:t>
            </a:r>
            <a:endParaRPr lang="en-US" sz="1400" dirty="0"/>
          </a:p>
        </p:txBody>
      </p:sp>
      <p:sp>
        <p:nvSpPr>
          <p:cNvPr id="11" name="Shape 8"/>
          <p:cNvSpPr/>
          <p:nvPr/>
        </p:nvSpPr>
        <p:spPr>
          <a:xfrm>
            <a:off x="8666480" y="2362201"/>
            <a:ext cx="2504440" cy="0"/>
          </a:xfrm>
          <a:prstGeom prst="line">
            <a:avLst/>
          </a:prstGeom>
          <a:noFill/>
          <a:ln w="10160">
            <a:solidFill>
              <a:srgbClr val="141413">
                <a:alpha val="22000"/>
              </a:srgbClr>
            </a:solidFill>
            <a:prstDash val="solid"/>
          </a:ln>
        </p:spPr>
      </p:sp>
      <p:sp>
        <p:nvSpPr>
          <p:cNvPr id="12" name="Shape 9"/>
          <p:cNvSpPr/>
          <p:nvPr/>
        </p:nvSpPr>
        <p:spPr>
          <a:xfrm>
            <a:off x="8671560" y="2357121"/>
            <a:ext cx="0" cy="2143760"/>
          </a:xfrm>
          <a:prstGeom prst="line">
            <a:avLst/>
          </a:prstGeom>
          <a:noFill/>
          <a:ln w="10160">
            <a:solidFill>
              <a:srgbClr val="141413">
                <a:alpha val="22000"/>
              </a:srgbClr>
            </a:solidFill>
            <a:prstDash val="solid"/>
          </a:ln>
        </p:spPr>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8740140" y="2443481"/>
          <a:ext cx="2367280" cy="1981200"/>
        </p:xfrm>
        <a:graphic>
          <a:graphicData uri="http://schemas.openxmlformats.org/drawingml/2006/table">
            <a:tbl>
              <a:tblPr/>
              <a:tblGrid>
                <a:gridCol w="1467714">
                  <a:extLst>
                    <a:ext uri="{9D8B030D-6E8A-4147-A177-3AD203B41FA5}">
                      <a16:colId xmlns:a16="http://schemas.microsoft.com/office/drawing/2014/main" val="20000"/>
                    </a:ext>
                  </a:extLst>
                </a:gridCol>
                <a:gridCol w="899566">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6B6455"/>
                          </a:solidFill>
                          <a:latin typeface="Space Grotesk" pitchFamily="34" charset="0"/>
                          <a:ea typeface="Space Grotesk" pitchFamily="34" charset="-122"/>
                          <a:cs typeface="Space Grotesk" pitchFamily="34" charset="-120"/>
                        </a:rPr>
                        <a:t>Produk</a:t>
                      </a:r>
                      <a:endParaRPr lang="en-US" sz="1200" dirty="0">
                        <a:latin typeface="Space Grotesk" charset="0"/>
                        <a:ea typeface="Space Grotesk" charset="0"/>
                        <a:cs typeface="Space Grotesk" charset="0"/>
                      </a:endParaRPr>
                    </a:p>
                  </a:txBody>
                  <a:tcPr marL="53340" marR="53340" marT="53340" marB="53340">
                    <a:lnL w="0" cap="flat" cmpd="sng" algn="ctr">
                      <a:noFill/>
                    </a:lnL>
                    <a:lnR w="12700" cap="flat" cmpd="sng" algn="ctr">
                      <a:solidFill>
                        <a:srgbClr val="BCBBB8"/>
                      </a:solidFill>
                      <a:prstDash val="solid"/>
                      <a:round/>
                      <a:headEnd type="none" w="med" len="med"/>
                      <a:tailEnd type="none" w="med" len="med"/>
                    </a:lnR>
                    <a:lnT w="0" cap="flat" cmpd="sng" algn="ctr">
                      <a:noFill/>
                    </a:lnT>
                    <a:lnB w="12700" cap="flat" cmpd="sng" algn="ctr">
                      <a:solidFill>
                        <a:srgbClr val="BCBBB8"/>
                      </a:solidFill>
                      <a:prstDash val="solid"/>
                      <a:round/>
                      <a:headEnd type="none" w="med" len="med"/>
                      <a:tailEnd type="none" w="med" len="med"/>
                    </a:lnB>
                    <a:solidFill>
                      <a:srgbClr val="ECEAE6"/>
                    </a:solidFill>
                  </a:tcPr>
                </a:tc>
                <a:tc>
                  <a:txBody>
                    <a:bodyPr/>
                    <a:lstStyle/>
                    <a:p>
                      <a:pPr marL="0" indent="0" algn="r">
                        <a:lnSpc>
                          <a:spcPts val="1680"/>
                        </a:lnSpc>
                        <a:buNone/>
                      </a:pPr>
                      <a:r>
                        <a:rPr lang="en-US" sz="1200" b="1" dirty="0">
                          <a:solidFill>
                            <a:srgbClr val="6B6455"/>
                          </a:solidFill>
                          <a:latin typeface="Space Grotesk" pitchFamily="34" charset="0"/>
                          <a:ea typeface="Space Grotesk" pitchFamily="34" charset="-122"/>
                          <a:cs typeface="Space Grotesk" pitchFamily="34" charset="-120"/>
                        </a:rPr>
                        <a:t>Harga</a:t>
                      </a:r>
                      <a:endParaRPr lang="en-US" sz="1200" dirty="0">
                        <a:latin typeface="Space Grotesk" charset="0"/>
                        <a:ea typeface="Space Grotesk" charset="0"/>
                        <a:cs typeface="Space Grotesk" charset="0"/>
                      </a:endParaRPr>
                    </a:p>
                  </a:txBody>
                  <a:tcPr marL="53340" marR="53340" marT="53340" marB="53340">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0" cap="flat" cmpd="sng" algn="ctr">
                      <a:noFill/>
                    </a:lnT>
                    <a:lnB w="12700" cap="flat" cmpd="sng" algn="ctr">
                      <a:solidFill>
                        <a:srgbClr val="BCBBB8"/>
                      </a:solidFill>
                      <a:prstDash val="solid"/>
                      <a:round/>
                      <a:headEnd type="none" w="med" len="med"/>
                      <a:tailEnd type="none" w="med" len="med"/>
                    </a:lnB>
                    <a:solidFill>
                      <a:srgbClr val="ECEAE6"/>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Kopi Toraja</a:t>
                      </a:r>
                      <a:endParaRPr lang="en-US" sz="1200" dirty="0">
                        <a:latin typeface="Space Grotesk" charset="0"/>
                        <a:ea typeface="Space Grotesk" charset="0"/>
                        <a:cs typeface="Space Grotesk" charset="0"/>
                      </a:endParaRPr>
                    </a:p>
                  </a:txBody>
                  <a:tcPr marL="53340" marR="53340" marT="53340" marB="53340">
                    <a:lnL w="0" cap="flat" cmpd="sng" algn="ctr">
                      <a:noFill/>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85.000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Kopi Kalosi</a:t>
                      </a:r>
                      <a:endParaRPr lang="en-US" sz="1200" dirty="0">
                        <a:latin typeface="Space Grotesk" charset="0"/>
                        <a:ea typeface="Space Grotesk" charset="0"/>
                        <a:cs typeface="Space Grotesk" charset="0"/>
                      </a:endParaRPr>
                    </a:p>
                  </a:txBody>
                  <a:tcPr marL="53340" marR="53340" marT="53340" marB="53340">
                    <a:lnL w="0" cap="flat" cmpd="sng" algn="ctr">
                      <a:noFill/>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75.000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Gula Aren (kg)</a:t>
                      </a:r>
                      <a:endParaRPr lang="en-US" sz="1200" dirty="0">
                        <a:latin typeface="Space Grotesk" charset="0"/>
                        <a:ea typeface="Space Grotesk" charset="0"/>
                        <a:cs typeface="Space Grotesk" charset="0"/>
                      </a:endParaRPr>
                    </a:p>
                  </a:txBody>
                  <a:tcPr marL="53340" marR="53340" marT="53340" marB="53340">
                    <a:lnL w="0" cap="flat" cmpd="sng" algn="ctr">
                      <a:noFill/>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40.000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Pisang Epe</a:t>
                      </a:r>
                      <a:endParaRPr lang="en-US" sz="1200" dirty="0">
                        <a:latin typeface="Space Grotesk" charset="0"/>
                        <a:ea typeface="Space Grotesk" charset="0"/>
                        <a:cs typeface="Space Grotesk" charset="0"/>
                      </a:endParaRPr>
                    </a:p>
                  </a:txBody>
                  <a:tcPr marL="53340" marR="53340" marT="53340" marB="53340">
                    <a:lnL w="0" cap="flat" cmpd="sng" algn="ctr">
                      <a:noFill/>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15.000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B1F27"/>
                          </a:solidFill>
                          <a:latin typeface="Space Grotesk" pitchFamily="34" charset="0"/>
                          <a:ea typeface="Space Grotesk" pitchFamily="34" charset="-122"/>
                          <a:cs typeface="Space Grotesk" pitchFamily="34" charset="-120"/>
                        </a:rPr>
                        <a:t>Es Pallubutung</a:t>
                      </a:r>
                      <a:endParaRPr lang="en-US" sz="1200" dirty="0">
                        <a:latin typeface="Space Grotesk" charset="0"/>
                        <a:ea typeface="Space Grotesk" charset="0"/>
                        <a:cs typeface="Space Grotesk" charset="0"/>
                      </a:endParaRPr>
                    </a:p>
                  </a:txBody>
                  <a:tcPr marL="53340" marR="53340" marT="53340" marB="53340">
                    <a:lnL w="0" cap="flat" cmpd="sng" algn="ctr">
                      <a:noFill/>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r">
                        <a:lnSpc>
                          <a:spcPts val="1680"/>
                        </a:lnSpc>
                        <a:buNone/>
                      </a:pPr>
                      <a:r>
                        <a:rPr lang="en-US" sz="1200" dirty="0">
                          <a:solidFill>
                            <a:srgbClr val="1B1F27"/>
                          </a:solidFill>
                          <a:latin typeface="Space Grotesk" pitchFamily="34" charset="0"/>
                          <a:ea typeface="Space Grotesk" pitchFamily="34" charset="-122"/>
                          <a:cs typeface="Space Grotesk" pitchFamily="34" charset="-120"/>
                        </a:rPr>
                        <a:t>18.000</a:t>
                      </a:r>
                      <a:endParaRPr lang="en-US" sz="1200" dirty="0">
                        <a:latin typeface="Space Grotesk" charset="0"/>
                        <a:ea typeface="Space Grotesk" charset="0"/>
                        <a:cs typeface="Space Grotesk"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4" name="Text 10"/>
          <p:cNvSpPr/>
          <p:nvPr/>
        </p:nvSpPr>
        <p:spPr>
          <a:xfrm>
            <a:off x="8666480" y="4602479"/>
            <a:ext cx="257957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55"/>
                </a:solidFill>
                <a:latin typeface="Space Grotesk" pitchFamily="34" charset="0"/>
                <a:ea typeface="Space Grotesk" pitchFamily="34" charset="-122"/>
                <a:cs typeface="Space Grotesk" pitchFamily="34" charset="-120"/>
              </a:rPr>
              <a:t>Kopi per bungkus 250gr, kuliner per porsi.</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4181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F2A541"/>
                </a:solidFill>
                <a:latin typeface="Space Grotesk" pitchFamily="34" charset="0"/>
                <a:ea typeface="Space Grotesk" pitchFamily="34" charset="-122"/>
                <a:cs typeface="Space Grotesk" pitchFamily="34" charset="-120"/>
              </a:rPr>
              <a:t>BABAK 2 · PASANG PENGAMAN DENGAN PYTHON</a:t>
            </a:r>
            <a:endParaRPr lang="en-US" sz="1600" dirty="0"/>
          </a:p>
        </p:txBody>
      </p:sp>
      <p:sp>
        <p:nvSpPr>
          <p:cNvPr id="3" name="Text 1"/>
          <p:cNvSpPr/>
          <p:nvPr/>
        </p:nvSpPr>
        <p:spPr>
          <a:xfrm>
            <a:off x="812800" y="1589168"/>
            <a:ext cx="5284724"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4A8"/>
                </a:solidFill>
                <a:latin typeface="Space Grotesk" pitchFamily="34" charset="0"/>
                <a:ea typeface="Space Grotesk" pitchFamily="34" charset="-122"/>
                <a:cs typeface="Space Grotesk" pitchFamily="34" charset="-120"/>
              </a:rPr>
              <a:t>Versi AI saja</a:t>
            </a:r>
            <a:endParaRPr lang="en-US" sz="1600" dirty="0"/>
          </a:p>
        </p:txBody>
      </p:sp>
      <p:sp>
        <p:nvSpPr>
          <p:cNvPr id="4" name="Text 2"/>
          <p:cNvSpPr/>
          <p:nvPr/>
        </p:nvSpPr>
        <p:spPr>
          <a:xfrm>
            <a:off x="812800" y="1924447"/>
            <a:ext cx="5284724" cy="695960"/>
          </a:xfrm>
          <a:prstGeom prst="rect">
            <a:avLst/>
          </a:prstGeom>
          <a:noFill/>
          <a:ln/>
        </p:spPr>
        <p:txBody>
          <a:bodyPr wrap="square" lIns="0" tIns="0" rIns="0" bIns="0" rtlCol="0" anchor="t">
            <a:normAutofit/>
          </a:bodyPr>
          <a:lstStyle/>
          <a:p>
            <a:pPr marL="0" indent="0" algn="l">
              <a:lnSpc>
                <a:spcPts val="5280"/>
              </a:lnSpc>
              <a:buNone/>
            </a:pPr>
            <a:r>
              <a:rPr lang="en-US" sz="4800" b="1" strike="sngStrike" dirty="0">
                <a:solidFill>
                  <a:srgbClr val="8A8F99"/>
                </a:solidFill>
                <a:latin typeface="Space Grotesk" pitchFamily="34" charset="0"/>
                <a:ea typeface="Space Grotesk" pitchFamily="34" charset="-122"/>
                <a:cs typeface="Space Grotesk" pitchFamily="34" charset="-120"/>
              </a:rPr>
              <a:t>Rp 1.925.000</a:t>
            </a:r>
            <a:endParaRPr lang="en-US" sz="4800" dirty="0"/>
          </a:p>
        </p:txBody>
      </p:sp>
      <p:sp>
        <p:nvSpPr>
          <p:cNvPr id="5" name="Text 3"/>
          <p:cNvSpPr/>
          <p:nvPr/>
        </p:nvSpPr>
        <p:spPr>
          <a:xfrm>
            <a:off x="6248400" y="1589168"/>
            <a:ext cx="5284724"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2A541"/>
                </a:solidFill>
                <a:latin typeface="Space Grotesk" pitchFamily="34" charset="0"/>
                <a:ea typeface="Space Grotesk" pitchFamily="34" charset="-122"/>
                <a:cs typeface="Space Grotesk" pitchFamily="34" charset="-120"/>
              </a:rPr>
              <a:t>Sudah diverifikasi</a:t>
            </a:r>
            <a:endParaRPr lang="en-US" sz="1600" dirty="0"/>
          </a:p>
        </p:txBody>
      </p:sp>
      <p:sp>
        <p:nvSpPr>
          <p:cNvPr id="6" name="Text 4"/>
          <p:cNvSpPr/>
          <p:nvPr/>
        </p:nvSpPr>
        <p:spPr>
          <a:xfrm>
            <a:off x="6248400" y="1924447"/>
            <a:ext cx="5284724"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4F1EA"/>
                </a:solidFill>
                <a:latin typeface="Space Grotesk" pitchFamily="34" charset="0"/>
                <a:ea typeface="Space Grotesk" pitchFamily="34" charset="-122"/>
                <a:cs typeface="Space Grotesk" pitchFamily="34" charset="-120"/>
              </a:rPr>
              <a:t>Rp 1.575.000</a:t>
            </a:r>
            <a:endParaRPr lang="en-US" sz="4800" dirty="0"/>
          </a:p>
        </p:txBody>
      </p:sp>
      <p:sp>
        <p:nvSpPr>
          <p:cNvPr id="7" name="Shape 5"/>
          <p:cNvSpPr/>
          <p:nvPr/>
        </p:nvSpPr>
        <p:spPr>
          <a:xfrm>
            <a:off x="812800" y="3092054"/>
            <a:ext cx="10566400" cy="0"/>
          </a:xfrm>
          <a:prstGeom prst="line">
            <a:avLst/>
          </a:prstGeom>
          <a:noFill/>
          <a:ln w="10160">
            <a:solidFill>
              <a:srgbClr val="FAF9F5">
                <a:alpha val="22000"/>
              </a:srgbClr>
            </a:solidFill>
            <a:prstDash val="solid"/>
          </a:ln>
        </p:spPr>
      </p:sp>
      <p:sp>
        <p:nvSpPr>
          <p:cNvPr id="8" name="Shape 6"/>
          <p:cNvSpPr/>
          <p:nvPr/>
        </p:nvSpPr>
        <p:spPr>
          <a:xfrm>
            <a:off x="817880" y="3086974"/>
            <a:ext cx="0" cy="2131060"/>
          </a:xfrm>
          <a:prstGeom prst="line">
            <a:avLst/>
          </a:prstGeom>
          <a:noFill/>
          <a:ln w="10160">
            <a:solidFill>
              <a:srgbClr val="FAF9F5">
                <a:alpha val="22000"/>
              </a:srgbClr>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75360" y="3198734"/>
          <a:ext cx="10251440" cy="1917700"/>
        </p:xfrm>
        <a:graphic>
          <a:graphicData uri="http://schemas.openxmlformats.org/drawingml/2006/table">
            <a:tbl>
              <a:tblPr/>
              <a:tblGrid>
                <a:gridCol w="4613148">
                  <a:extLst>
                    <a:ext uri="{9D8B030D-6E8A-4147-A177-3AD203B41FA5}">
                      <a16:colId xmlns:a16="http://schemas.microsoft.com/office/drawing/2014/main" val="20000"/>
                    </a:ext>
                  </a:extLst>
                </a:gridCol>
                <a:gridCol w="3075432">
                  <a:extLst>
                    <a:ext uri="{9D8B030D-6E8A-4147-A177-3AD203B41FA5}">
                      <a16:colId xmlns:a16="http://schemas.microsoft.com/office/drawing/2014/main" val="20001"/>
                    </a:ext>
                  </a:extLst>
                </a:gridCol>
                <a:gridCol w="2562860">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F2A541"/>
                          </a:solidFill>
                          <a:latin typeface="Space Grotesk" pitchFamily="34" charset="0"/>
                          <a:ea typeface="Space Grotesk" pitchFamily="34" charset="-122"/>
                          <a:cs typeface="Space Grotesk" pitchFamily="34" charset="-120"/>
                        </a:rPr>
                        <a:t>Yang terlewat oleh AI</a:t>
                      </a:r>
                      <a:endParaRPr lang="en-US" sz="1400" dirty="0">
                        <a:latin typeface="Space Grotesk" charset="0"/>
                        <a:ea typeface="Space Grotesk" charset="0"/>
                        <a:cs typeface="Space Grotesk" charset="0"/>
                      </a:endParaRPr>
                    </a:p>
                  </a:txBody>
                  <a:tcPr marL="62230" marR="62230" marT="62230" marB="62230">
                    <a:lnL w="0" cap="flat" cmpd="sng" algn="ctr">
                      <a:noFill/>
                    </a:lnL>
                    <a:lnR w="12700" cap="flat" cmpd="sng" algn="ctr">
                      <a:solidFill>
                        <a:srgbClr val="55585B"/>
                      </a:solidFill>
                      <a:prstDash val="solid"/>
                      <a:round/>
                      <a:headEnd type="none" w="med" len="med"/>
                      <a:tailEnd type="none" w="med" len="med"/>
                    </a:lnR>
                    <a:lnT w="0" cap="flat" cmpd="sng" algn="ctr">
                      <a:noFill/>
                    </a:lnT>
                    <a:lnB w="12700" cap="flat" cmpd="sng" algn="ctr">
                      <a:solidFill>
                        <a:srgbClr val="55585B"/>
                      </a:solidFill>
                      <a:prstDash val="solid"/>
                      <a:round/>
                      <a:headEnd type="none" w="med" len="med"/>
                      <a:tailEnd type="none" w="med" len="med"/>
                    </a:lnB>
                    <a:solidFill>
                      <a:srgbClr val="262A30"/>
                    </a:solidFill>
                  </a:tcPr>
                </a:tc>
                <a:tc>
                  <a:txBody>
                    <a:bodyPr/>
                    <a:lstStyle/>
                    <a:p>
                      <a:pPr marL="0" indent="0">
                        <a:lnSpc>
                          <a:spcPts val="1960"/>
                        </a:lnSpc>
                        <a:buNone/>
                      </a:pPr>
                      <a:r>
                        <a:rPr lang="en-US" sz="1400" b="1" dirty="0">
                          <a:solidFill>
                            <a:srgbClr val="F2A541"/>
                          </a:solidFill>
                          <a:latin typeface="Space Grotesk" pitchFamily="34" charset="0"/>
                          <a:ea typeface="Space Grotesk" pitchFamily="34" charset="-122"/>
                          <a:cs typeface="Space Grotesk" pitchFamily="34" charset="-120"/>
                        </a:rPr>
                        <a:t>Siapa</a:t>
                      </a:r>
                      <a:endParaRPr lang="en-US" sz="1400" dirty="0">
                        <a:latin typeface="Space Grotesk" charset="0"/>
                        <a:ea typeface="Space Grotesk" charset="0"/>
                        <a:cs typeface="Space Grotesk" charset="0"/>
                      </a:endParaRPr>
                    </a:p>
                  </a:txBody>
                  <a:tcPr marL="62230" marR="62230" marT="62230" marB="62230">
                    <a:lnL w="12700" cap="flat" cmpd="sng" algn="ctr">
                      <a:solidFill>
                        <a:srgbClr val="55585B"/>
                      </a:solidFill>
                      <a:prstDash val="solid"/>
                      <a:round/>
                      <a:headEnd type="none" w="med" len="med"/>
                      <a:tailEnd type="none" w="med" len="med"/>
                    </a:lnL>
                    <a:lnR w="12700" cap="flat" cmpd="sng" algn="ctr">
                      <a:solidFill>
                        <a:srgbClr val="55585B"/>
                      </a:solidFill>
                      <a:prstDash val="solid"/>
                      <a:round/>
                      <a:headEnd type="none" w="med" len="med"/>
                      <a:tailEnd type="none" w="med" len="med"/>
                    </a:lnR>
                    <a:lnT w="0" cap="flat" cmpd="sng" algn="ctr">
                      <a:noFill/>
                    </a:lnT>
                    <a:lnB w="12700" cap="flat" cmpd="sng" algn="ctr">
                      <a:solidFill>
                        <a:srgbClr val="55585B"/>
                      </a:solidFill>
                      <a:prstDash val="solid"/>
                      <a:round/>
                      <a:headEnd type="none" w="med" len="med"/>
                      <a:tailEnd type="none" w="med" len="med"/>
                    </a:lnB>
                    <a:solidFill>
                      <a:srgbClr val="262A30"/>
                    </a:solidFill>
                  </a:tcPr>
                </a:tc>
                <a:tc>
                  <a:txBody>
                    <a:bodyPr/>
                    <a:lstStyle/>
                    <a:p>
                      <a:pPr marL="0" indent="0" algn="r">
                        <a:lnSpc>
                          <a:spcPts val="1960"/>
                        </a:lnSpc>
                        <a:buNone/>
                      </a:pPr>
                      <a:r>
                        <a:rPr lang="en-US" sz="1400" b="1" dirty="0">
                          <a:solidFill>
                            <a:srgbClr val="F2A541"/>
                          </a:solidFill>
                          <a:latin typeface="Space Grotesk" pitchFamily="34" charset="0"/>
                          <a:ea typeface="Space Grotesk" pitchFamily="34" charset="-122"/>
                          <a:cs typeface="Space Grotesk" pitchFamily="34" charset="-120"/>
                        </a:rPr>
                        <a:t>Selisih</a:t>
                      </a:r>
                      <a:endParaRPr lang="en-US" sz="1400" dirty="0">
                        <a:latin typeface="Space Grotesk" charset="0"/>
                        <a:ea typeface="Space Grotesk" charset="0"/>
                        <a:cs typeface="Space Grotesk" charset="0"/>
                      </a:endParaRPr>
                    </a:p>
                  </a:txBody>
                  <a:tcPr marL="62230" marR="62230" marT="62230" marB="62230">
                    <a:lnL w="12700" cap="flat" cmpd="sng" algn="ctr">
                      <a:solidFill>
                        <a:srgbClr val="55585B"/>
                      </a:solidFill>
                      <a:prstDash val="solid"/>
                      <a:round/>
                      <a:headEnd type="none" w="med" len="med"/>
                      <a:tailEnd type="none" w="med" len="med"/>
                    </a:lnL>
                    <a:lnR w="12700" cap="flat" cmpd="sng" algn="ctr">
                      <a:solidFill>
                        <a:srgbClr val="55585B"/>
                      </a:solidFill>
                      <a:prstDash val="solid"/>
                      <a:round/>
                      <a:headEnd type="none" w="med" len="med"/>
                      <a:tailEnd type="none" w="med" len="med"/>
                    </a:lnR>
                    <a:lnT w="0" cap="flat" cmpd="sng" algn="ctr">
                      <a:noFill/>
                    </a:lnT>
                    <a:lnB w="12700" cap="flat" cmpd="sng" algn="ctr">
                      <a:solidFill>
                        <a:srgbClr val="55585B"/>
                      </a:solidFill>
                      <a:prstDash val="solid"/>
                      <a:round/>
                      <a:headEnd type="none" w="med" len="med"/>
                      <a:tailEnd type="none" w="med" len="med"/>
                    </a:lnB>
                    <a:solidFill>
                      <a:srgbClr val="262A30"/>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E9E4D8"/>
                          </a:solidFill>
                          <a:latin typeface="Space Grotesk" pitchFamily="34" charset="0"/>
                          <a:ea typeface="Space Grotesk" pitchFamily="34" charset="-122"/>
                          <a:cs typeface="Space Grotesk" pitchFamily="34" charset="-120"/>
                        </a:rPr>
                        <a:t>Pesan yang sama terkirim dua kali</a:t>
                      </a:r>
                      <a:endParaRPr lang="en-US" sz="1400" dirty="0">
                        <a:latin typeface="Space Grotesk" charset="0"/>
                        <a:ea typeface="Space Grotesk" charset="0"/>
                        <a:cs typeface="Space Grotesk" charset="0"/>
                      </a:endParaRPr>
                    </a:p>
                  </a:txBody>
                  <a:tcPr marL="62230" marR="62230" marT="62230" marB="62230">
                    <a:lnL w="0" cap="flat" cmpd="sng" algn="ctr">
                      <a:noFill/>
                    </a:lnL>
                    <a:lnR w="12700" cap="flat" cmpd="sng" algn="ctr">
                      <a:solidFill>
                        <a:srgbClr val="474A4E"/>
                      </a:solidFill>
                      <a:prstDash val="solid"/>
                      <a:round/>
                      <a:headEnd type="none" w="med" len="med"/>
                      <a:tailEnd type="none" w="med" len="med"/>
                    </a:lnR>
                    <a:lnT w="12700" cap="flat" cmpd="sng" algn="ctr">
                      <a:solidFill>
                        <a:srgbClr val="55585B"/>
                      </a:solidFill>
                      <a:prstDash val="solid"/>
                      <a:round/>
                      <a:headEnd type="none" w="med" len="med"/>
                      <a:tailEnd type="none" w="med" len="med"/>
                    </a:lnT>
                    <a:lnB w="12700" cap="flat" cmpd="sng" algn="ctr">
                      <a:solidFill>
                        <a:srgbClr val="474A4E"/>
                      </a:solidFill>
                      <a:prstDash val="solid"/>
                      <a:round/>
                      <a:headEnd type="none" w="med" len="med"/>
                      <a:tailEnd type="none" w="med" len="med"/>
                    </a:lnB>
                  </a:tcPr>
                </a:tc>
                <a:tc>
                  <a:txBody>
                    <a:bodyPr/>
                    <a:lstStyle/>
                    <a:p>
                      <a:pPr marL="0" indent="0">
                        <a:lnSpc>
                          <a:spcPts val="1960"/>
                        </a:lnSpc>
                        <a:buNone/>
                      </a:pPr>
                      <a:r>
                        <a:rPr lang="en-US" sz="1400" dirty="0">
                          <a:solidFill>
                            <a:srgbClr val="E9E4D8"/>
                          </a:solidFill>
                          <a:latin typeface="Space Grotesk" pitchFamily="34" charset="0"/>
                          <a:ea typeface="Space Grotesk" pitchFamily="34" charset="-122"/>
                          <a:cs typeface="Space Grotesk" pitchFamily="34" charset="-120"/>
                        </a:rPr>
                        <a:t>Pak Andi</a:t>
                      </a:r>
                      <a:endParaRPr lang="en-US" sz="1400" dirty="0">
                        <a:latin typeface="Space Grotesk" charset="0"/>
                        <a:ea typeface="Space Grotesk" charset="0"/>
                        <a:cs typeface="Space Grotesk" charset="0"/>
                      </a:endParaRPr>
                    </a:p>
                  </a:txBody>
                  <a:tcPr marL="62230" marR="62230" marT="62230" marB="62230">
                    <a:lnL w="12700" cap="flat" cmpd="sng" algn="ctr">
                      <a:solidFill>
                        <a:srgbClr val="474A4E"/>
                      </a:solidFill>
                      <a:prstDash val="solid"/>
                      <a:round/>
                      <a:headEnd type="none" w="med" len="med"/>
                      <a:tailEnd type="none" w="med" len="med"/>
                    </a:lnL>
                    <a:lnR w="12700" cap="flat" cmpd="sng" algn="ctr">
                      <a:solidFill>
                        <a:srgbClr val="474A4E"/>
                      </a:solidFill>
                      <a:prstDash val="solid"/>
                      <a:round/>
                      <a:headEnd type="none" w="med" len="med"/>
                      <a:tailEnd type="none" w="med" len="med"/>
                    </a:lnR>
                    <a:lnT w="12700" cap="flat" cmpd="sng" algn="ctr">
                      <a:solidFill>
                        <a:srgbClr val="55585B"/>
                      </a:solidFill>
                      <a:prstDash val="solid"/>
                      <a:round/>
                      <a:headEnd type="none" w="med" len="med"/>
                      <a:tailEnd type="none" w="med" len="med"/>
                    </a:lnT>
                    <a:lnB w="12700" cap="flat" cmpd="sng" algn="ctr">
                      <a:solidFill>
                        <a:srgbClr val="474A4E"/>
                      </a:solidFill>
                      <a:prstDash val="solid"/>
                      <a:round/>
                      <a:headEnd type="none" w="med" len="med"/>
                      <a:tailEnd type="none" w="med" len="med"/>
                    </a:lnB>
                  </a:tcPr>
                </a:tc>
                <a:tc>
                  <a:txBody>
                    <a:bodyPr/>
                    <a:lstStyle/>
                    <a:p>
                      <a:pPr marL="0" indent="0" algn="r">
                        <a:lnSpc>
                          <a:spcPts val="1960"/>
                        </a:lnSpc>
                        <a:buNone/>
                      </a:pPr>
                      <a:r>
                        <a:rPr lang="en-US" sz="1400" dirty="0">
                          <a:solidFill>
                            <a:srgbClr val="E9E4D8"/>
                          </a:solidFill>
                          <a:latin typeface="Space Grotesk" pitchFamily="34" charset="0"/>
                          <a:ea typeface="Space Grotesk" pitchFamily="34" charset="-122"/>
                          <a:cs typeface="Space Grotesk" pitchFamily="34" charset="-120"/>
                        </a:rPr>
                        <a:t>+Rp 225.000</a:t>
                      </a:r>
                      <a:endParaRPr lang="en-US" sz="1400" dirty="0">
                        <a:latin typeface="Space Grotesk" charset="0"/>
                        <a:ea typeface="Space Grotesk" charset="0"/>
                        <a:cs typeface="Space Grotesk" charset="0"/>
                      </a:endParaRPr>
                    </a:p>
                  </a:txBody>
                  <a:tcPr marL="62230" marR="62230" marT="62230" marB="62230">
                    <a:lnL w="12700" cap="flat" cmpd="sng" algn="ctr">
                      <a:solidFill>
                        <a:srgbClr val="474A4E"/>
                      </a:solidFill>
                      <a:prstDash val="solid"/>
                      <a:round/>
                      <a:headEnd type="none" w="med" len="med"/>
                      <a:tailEnd type="none" w="med" len="med"/>
                    </a:lnL>
                    <a:lnR w="12700" cap="flat" cmpd="sng" algn="ctr">
                      <a:solidFill>
                        <a:srgbClr val="474A4E"/>
                      </a:solidFill>
                      <a:prstDash val="solid"/>
                      <a:round/>
                      <a:headEnd type="none" w="med" len="med"/>
                      <a:tailEnd type="none" w="med" len="med"/>
                    </a:lnR>
                    <a:lnT w="12700" cap="flat" cmpd="sng" algn="ctr">
                      <a:solidFill>
                        <a:srgbClr val="55585B"/>
                      </a:solidFill>
                      <a:prstDash val="solid"/>
                      <a:round/>
                      <a:headEnd type="none" w="med" len="med"/>
                      <a:tailEnd type="none" w="med" len="med"/>
                    </a:lnT>
                    <a:lnB w="12700" cap="flat" cmpd="sng" algn="ctr">
                      <a:solidFill>
                        <a:srgbClr val="474A4E"/>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E9E4D8"/>
                          </a:solidFill>
                          <a:latin typeface="Space Grotesk" pitchFamily="34" charset="0"/>
                          <a:ea typeface="Space Grotesk" pitchFamily="34" charset="-122"/>
                          <a:cs typeface="Space Grotesk" pitchFamily="34" charset="-120"/>
                        </a:rPr>
                        <a:t>Ralat ditambahkan, bukan mengganti</a:t>
                      </a:r>
                      <a:endParaRPr lang="en-US" sz="1400" dirty="0">
                        <a:latin typeface="Space Grotesk" charset="0"/>
                        <a:ea typeface="Space Grotesk" charset="0"/>
                        <a:cs typeface="Space Grotesk" charset="0"/>
                      </a:endParaRPr>
                    </a:p>
                  </a:txBody>
                  <a:tcPr marL="62230" marR="62230" marT="62230" marB="62230">
                    <a:lnL w="0" cap="flat" cmpd="sng" algn="ctr">
                      <a:noFill/>
                    </a:lnL>
                    <a:lnR w="12700" cap="flat" cmpd="sng" algn="ctr">
                      <a:solidFill>
                        <a:srgbClr val="474A4E"/>
                      </a:solidFill>
                      <a:prstDash val="solid"/>
                      <a:round/>
                      <a:headEnd type="none" w="med" len="med"/>
                      <a:tailEnd type="none" w="med" len="med"/>
                    </a:lnR>
                    <a:lnT w="12700" cap="flat" cmpd="sng" algn="ctr">
                      <a:solidFill>
                        <a:srgbClr val="474A4E"/>
                      </a:solidFill>
                      <a:prstDash val="solid"/>
                      <a:round/>
                      <a:headEnd type="none" w="med" len="med"/>
                      <a:tailEnd type="none" w="med" len="med"/>
                    </a:lnT>
                    <a:lnB w="12700" cap="flat" cmpd="sng" algn="ctr">
                      <a:solidFill>
                        <a:srgbClr val="474A4E"/>
                      </a:solidFill>
                      <a:prstDash val="solid"/>
                      <a:round/>
                      <a:headEnd type="none" w="med" len="med"/>
                      <a:tailEnd type="none" w="med" len="med"/>
                    </a:lnB>
                  </a:tcPr>
                </a:tc>
                <a:tc>
                  <a:txBody>
                    <a:bodyPr/>
                    <a:lstStyle/>
                    <a:p>
                      <a:pPr marL="0" indent="0">
                        <a:lnSpc>
                          <a:spcPts val="1960"/>
                        </a:lnSpc>
                        <a:buNone/>
                      </a:pPr>
                      <a:r>
                        <a:rPr lang="en-US" sz="1400" dirty="0">
                          <a:solidFill>
                            <a:srgbClr val="E9E4D8"/>
                          </a:solidFill>
                          <a:latin typeface="Space Grotesk" pitchFamily="34" charset="0"/>
                          <a:ea typeface="Space Grotesk" pitchFamily="34" charset="-122"/>
                          <a:cs typeface="Space Grotesk" pitchFamily="34" charset="-120"/>
                        </a:rPr>
                        <a:t>Bu Rina</a:t>
                      </a:r>
                      <a:endParaRPr lang="en-US" sz="1400" dirty="0">
                        <a:latin typeface="Space Grotesk" charset="0"/>
                        <a:ea typeface="Space Grotesk" charset="0"/>
                        <a:cs typeface="Space Grotesk" charset="0"/>
                      </a:endParaRPr>
                    </a:p>
                  </a:txBody>
                  <a:tcPr marL="62230" marR="62230" marT="62230" marB="62230">
                    <a:lnL w="12700" cap="flat" cmpd="sng" algn="ctr">
                      <a:solidFill>
                        <a:srgbClr val="474A4E"/>
                      </a:solidFill>
                      <a:prstDash val="solid"/>
                      <a:round/>
                      <a:headEnd type="none" w="med" len="med"/>
                      <a:tailEnd type="none" w="med" len="med"/>
                    </a:lnL>
                    <a:lnR w="12700" cap="flat" cmpd="sng" algn="ctr">
                      <a:solidFill>
                        <a:srgbClr val="474A4E"/>
                      </a:solidFill>
                      <a:prstDash val="solid"/>
                      <a:round/>
                      <a:headEnd type="none" w="med" len="med"/>
                      <a:tailEnd type="none" w="med" len="med"/>
                    </a:lnR>
                    <a:lnT w="12700" cap="flat" cmpd="sng" algn="ctr">
                      <a:solidFill>
                        <a:srgbClr val="474A4E"/>
                      </a:solidFill>
                      <a:prstDash val="solid"/>
                      <a:round/>
                      <a:headEnd type="none" w="med" len="med"/>
                      <a:tailEnd type="none" w="med" len="med"/>
                    </a:lnT>
                    <a:lnB w="12700" cap="flat" cmpd="sng" algn="ctr">
                      <a:solidFill>
                        <a:srgbClr val="474A4E"/>
                      </a:solidFill>
                      <a:prstDash val="solid"/>
                      <a:round/>
                      <a:headEnd type="none" w="med" len="med"/>
                      <a:tailEnd type="none" w="med" len="med"/>
                    </a:lnB>
                  </a:tcPr>
                </a:tc>
                <a:tc>
                  <a:txBody>
                    <a:bodyPr/>
                    <a:lstStyle/>
                    <a:p>
                      <a:pPr marL="0" indent="0" algn="r">
                        <a:lnSpc>
                          <a:spcPts val="1960"/>
                        </a:lnSpc>
                        <a:buNone/>
                      </a:pPr>
                      <a:r>
                        <a:rPr lang="en-US" sz="1400" dirty="0">
                          <a:solidFill>
                            <a:srgbClr val="E9E4D8"/>
                          </a:solidFill>
                          <a:latin typeface="Space Grotesk" pitchFamily="34" charset="0"/>
                          <a:ea typeface="Space Grotesk" pitchFamily="34" charset="-122"/>
                          <a:cs typeface="Space Grotesk" pitchFamily="34" charset="-120"/>
                        </a:rPr>
                        <a:t>+Rp 40.000</a:t>
                      </a:r>
                      <a:endParaRPr lang="en-US" sz="1400" dirty="0">
                        <a:latin typeface="Space Grotesk" charset="0"/>
                        <a:ea typeface="Space Grotesk" charset="0"/>
                        <a:cs typeface="Space Grotesk" charset="0"/>
                      </a:endParaRPr>
                    </a:p>
                  </a:txBody>
                  <a:tcPr marL="62230" marR="62230" marT="62230" marB="62230">
                    <a:lnL w="12700" cap="flat" cmpd="sng" algn="ctr">
                      <a:solidFill>
                        <a:srgbClr val="474A4E"/>
                      </a:solidFill>
                      <a:prstDash val="solid"/>
                      <a:round/>
                      <a:headEnd type="none" w="med" len="med"/>
                      <a:tailEnd type="none" w="med" len="med"/>
                    </a:lnL>
                    <a:lnR w="12700" cap="flat" cmpd="sng" algn="ctr">
                      <a:solidFill>
                        <a:srgbClr val="474A4E"/>
                      </a:solidFill>
                      <a:prstDash val="solid"/>
                      <a:round/>
                      <a:headEnd type="none" w="med" len="med"/>
                      <a:tailEnd type="none" w="med" len="med"/>
                    </a:lnR>
                    <a:lnT w="12700" cap="flat" cmpd="sng" algn="ctr">
                      <a:solidFill>
                        <a:srgbClr val="474A4E"/>
                      </a:solidFill>
                      <a:prstDash val="solid"/>
                      <a:round/>
                      <a:headEnd type="none" w="med" len="med"/>
                      <a:tailEnd type="none" w="med" len="med"/>
                    </a:lnT>
                    <a:lnB w="12700" cap="flat" cmpd="sng" algn="ctr">
                      <a:solidFill>
                        <a:srgbClr val="474A4E"/>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E9E4D8"/>
                          </a:solidFill>
                          <a:latin typeface="Space Grotesk" pitchFamily="34" charset="0"/>
                          <a:ea typeface="Space Grotesk" pitchFamily="34" charset="-122"/>
                          <a:cs typeface="Space Grotesk" pitchFamily="34" charset="-120"/>
                        </a:rPr>
                        <a:t>Salah ketik -1 ikut dihitung</a:t>
                      </a:r>
                      <a:endParaRPr lang="en-US" sz="1400" dirty="0">
                        <a:latin typeface="Space Grotesk" charset="0"/>
                        <a:ea typeface="Space Grotesk" charset="0"/>
                        <a:cs typeface="Space Grotesk" charset="0"/>
                      </a:endParaRPr>
                    </a:p>
                  </a:txBody>
                  <a:tcPr marL="62230" marR="62230" marT="62230" marB="62230">
                    <a:lnL w="0" cap="flat" cmpd="sng" algn="ctr">
                      <a:noFill/>
                    </a:lnL>
                    <a:lnR w="12700" cap="flat" cmpd="sng" algn="ctr">
                      <a:solidFill>
                        <a:srgbClr val="474A4E"/>
                      </a:solidFill>
                      <a:prstDash val="solid"/>
                      <a:round/>
                      <a:headEnd type="none" w="med" len="med"/>
                      <a:tailEnd type="none" w="med" len="med"/>
                    </a:lnR>
                    <a:lnT w="12700" cap="flat" cmpd="sng" algn="ctr">
                      <a:solidFill>
                        <a:srgbClr val="474A4E"/>
                      </a:solidFill>
                      <a:prstDash val="solid"/>
                      <a:round/>
                      <a:headEnd type="none" w="med" len="med"/>
                      <a:tailEnd type="none" w="med" len="med"/>
                    </a:lnT>
                    <a:lnB w="12700" cap="flat" cmpd="sng" algn="ctr">
                      <a:solidFill>
                        <a:srgbClr val="474A4E"/>
                      </a:solidFill>
                      <a:prstDash val="solid"/>
                      <a:round/>
                      <a:headEnd type="none" w="med" len="med"/>
                      <a:tailEnd type="none" w="med" len="med"/>
                    </a:lnB>
                  </a:tcPr>
                </a:tc>
                <a:tc>
                  <a:txBody>
                    <a:bodyPr/>
                    <a:lstStyle/>
                    <a:p>
                      <a:pPr marL="0" indent="0">
                        <a:lnSpc>
                          <a:spcPts val="1960"/>
                        </a:lnSpc>
                        <a:buNone/>
                      </a:pPr>
                      <a:r>
                        <a:rPr lang="en-US" sz="1400" dirty="0">
                          <a:solidFill>
                            <a:srgbClr val="E9E4D8"/>
                          </a:solidFill>
                          <a:latin typeface="Space Grotesk" pitchFamily="34" charset="0"/>
                          <a:ea typeface="Space Grotesk" pitchFamily="34" charset="-122"/>
                          <a:cs typeface="Space Grotesk" pitchFamily="34" charset="-120"/>
                        </a:rPr>
                        <a:t>Mira</a:t>
                      </a:r>
                      <a:endParaRPr lang="en-US" sz="1400" dirty="0">
                        <a:latin typeface="Space Grotesk" charset="0"/>
                        <a:ea typeface="Space Grotesk" charset="0"/>
                        <a:cs typeface="Space Grotesk" charset="0"/>
                      </a:endParaRPr>
                    </a:p>
                  </a:txBody>
                  <a:tcPr marL="62230" marR="62230" marT="62230" marB="62230">
                    <a:lnL w="12700" cap="flat" cmpd="sng" algn="ctr">
                      <a:solidFill>
                        <a:srgbClr val="474A4E"/>
                      </a:solidFill>
                      <a:prstDash val="solid"/>
                      <a:round/>
                      <a:headEnd type="none" w="med" len="med"/>
                      <a:tailEnd type="none" w="med" len="med"/>
                    </a:lnL>
                    <a:lnR w="12700" cap="flat" cmpd="sng" algn="ctr">
                      <a:solidFill>
                        <a:srgbClr val="474A4E"/>
                      </a:solidFill>
                      <a:prstDash val="solid"/>
                      <a:round/>
                      <a:headEnd type="none" w="med" len="med"/>
                      <a:tailEnd type="none" w="med" len="med"/>
                    </a:lnR>
                    <a:lnT w="12700" cap="flat" cmpd="sng" algn="ctr">
                      <a:solidFill>
                        <a:srgbClr val="474A4E"/>
                      </a:solidFill>
                      <a:prstDash val="solid"/>
                      <a:round/>
                      <a:headEnd type="none" w="med" len="med"/>
                      <a:tailEnd type="none" w="med" len="med"/>
                    </a:lnT>
                    <a:lnB w="12700" cap="flat" cmpd="sng" algn="ctr">
                      <a:solidFill>
                        <a:srgbClr val="474A4E"/>
                      </a:solidFill>
                      <a:prstDash val="solid"/>
                      <a:round/>
                      <a:headEnd type="none" w="med" len="med"/>
                      <a:tailEnd type="none" w="med" len="med"/>
                    </a:lnB>
                  </a:tcPr>
                </a:tc>
                <a:tc>
                  <a:txBody>
                    <a:bodyPr/>
                    <a:lstStyle/>
                    <a:p>
                      <a:pPr marL="0" indent="0" algn="r">
                        <a:lnSpc>
                          <a:spcPts val="1960"/>
                        </a:lnSpc>
                        <a:buNone/>
                      </a:pPr>
                      <a:r>
                        <a:rPr lang="en-US" sz="1400" dirty="0">
                          <a:solidFill>
                            <a:srgbClr val="E9E4D8"/>
                          </a:solidFill>
                          <a:latin typeface="Space Grotesk" pitchFamily="34" charset="0"/>
                          <a:ea typeface="Space Grotesk" pitchFamily="34" charset="-122"/>
                          <a:cs typeface="Space Grotesk" pitchFamily="34" charset="-120"/>
                        </a:rPr>
                        <a:t>−Rp 85.000</a:t>
                      </a:r>
                      <a:endParaRPr lang="en-US" sz="1400" dirty="0">
                        <a:latin typeface="Space Grotesk" charset="0"/>
                        <a:ea typeface="Space Grotesk" charset="0"/>
                        <a:cs typeface="Space Grotesk" charset="0"/>
                      </a:endParaRPr>
                    </a:p>
                  </a:txBody>
                  <a:tcPr marL="62230" marR="62230" marT="62230" marB="62230">
                    <a:lnL w="12700" cap="flat" cmpd="sng" algn="ctr">
                      <a:solidFill>
                        <a:srgbClr val="474A4E"/>
                      </a:solidFill>
                      <a:prstDash val="solid"/>
                      <a:round/>
                      <a:headEnd type="none" w="med" len="med"/>
                      <a:tailEnd type="none" w="med" len="med"/>
                    </a:lnL>
                    <a:lnR w="12700" cap="flat" cmpd="sng" algn="ctr">
                      <a:solidFill>
                        <a:srgbClr val="474A4E"/>
                      </a:solidFill>
                      <a:prstDash val="solid"/>
                      <a:round/>
                      <a:headEnd type="none" w="med" len="med"/>
                      <a:tailEnd type="none" w="med" len="med"/>
                    </a:lnR>
                    <a:lnT w="12700" cap="flat" cmpd="sng" algn="ctr">
                      <a:solidFill>
                        <a:srgbClr val="474A4E"/>
                      </a:solidFill>
                      <a:prstDash val="solid"/>
                      <a:round/>
                      <a:headEnd type="none" w="med" len="med"/>
                      <a:tailEnd type="none" w="med" len="med"/>
                    </a:lnT>
                    <a:lnB w="12700" cap="flat" cmpd="sng" algn="ctr">
                      <a:solidFill>
                        <a:srgbClr val="474A4E"/>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E9E4D8"/>
                          </a:solidFill>
                          <a:latin typeface="Space Grotesk" pitchFamily="34" charset="0"/>
                          <a:ea typeface="Space Grotesk" pitchFamily="34" charset="-122"/>
                          <a:cs typeface="Space Grotesk" pitchFamily="34" charset="-120"/>
                        </a:rPr>
                        <a:t>Pertanyaan dicatat sebagai order</a:t>
                      </a:r>
                      <a:endParaRPr lang="en-US" sz="1400" dirty="0">
                        <a:latin typeface="Space Grotesk" charset="0"/>
                        <a:ea typeface="Space Grotesk" charset="0"/>
                        <a:cs typeface="Space Grotesk" charset="0"/>
                      </a:endParaRPr>
                    </a:p>
                  </a:txBody>
                  <a:tcPr marL="62230" marR="62230" marT="62230" marB="62230">
                    <a:lnL w="0" cap="flat" cmpd="sng" algn="ctr">
                      <a:noFill/>
                    </a:lnL>
                    <a:lnR w="12700" cap="flat" cmpd="sng" algn="ctr">
                      <a:solidFill>
                        <a:srgbClr val="474A4E"/>
                      </a:solidFill>
                      <a:prstDash val="solid"/>
                      <a:round/>
                      <a:headEnd type="none" w="med" len="med"/>
                      <a:tailEnd type="none" w="med" len="med"/>
                    </a:lnR>
                    <a:lnT w="12700" cap="flat" cmpd="sng" algn="ctr">
                      <a:solidFill>
                        <a:srgbClr val="474A4E"/>
                      </a:solidFill>
                      <a:prstDash val="solid"/>
                      <a:round/>
                      <a:headEnd type="none" w="med" len="med"/>
                      <a:tailEnd type="none" w="med" len="med"/>
                    </a:lnT>
                    <a:lnB w="12700" cap="flat" cmpd="sng" algn="ctr">
                      <a:solidFill>
                        <a:srgbClr val="474A4E"/>
                      </a:solidFill>
                      <a:prstDash val="solid"/>
                      <a:round/>
                      <a:headEnd type="none" w="med" len="med"/>
                      <a:tailEnd type="none" w="med" len="med"/>
                    </a:lnB>
                  </a:tcPr>
                </a:tc>
                <a:tc>
                  <a:txBody>
                    <a:bodyPr/>
                    <a:lstStyle/>
                    <a:p>
                      <a:pPr marL="0" indent="0">
                        <a:lnSpc>
                          <a:spcPts val="1960"/>
                        </a:lnSpc>
                        <a:buNone/>
                      </a:pPr>
                      <a:r>
                        <a:rPr lang="en-US" sz="1400" dirty="0">
                          <a:solidFill>
                            <a:srgbClr val="E9E4D8"/>
                          </a:solidFill>
                          <a:latin typeface="Space Grotesk" pitchFamily="34" charset="0"/>
                          <a:ea typeface="Space Grotesk" pitchFamily="34" charset="-122"/>
                          <a:cs typeface="Space Grotesk" pitchFamily="34" charset="-120"/>
                        </a:rPr>
                        <a:t>Fajar</a:t>
                      </a:r>
                      <a:endParaRPr lang="en-US" sz="1400" dirty="0">
                        <a:latin typeface="Space Grotesk" charset="0"/>
                        <a:ea typeface="Space Grotesk" charset="0"/>
                        <a:cs typeface="Space Grotesk" charset="0"/>
                      </a:endParaRPr>
                    </a:p>
                  </a:txBody>
                  <a:tcPr marL="62230" marR="62230" marT="62230" marB="62230">
                    <a:lnL w="12700" cap="flat" cmpd="sng" algn="ctr">
                      <a:solidFill>
                        <a:srgbClr val="474A4E"/>
                      </a:solidFill>
                      <a:prstDash val="solid"/>
                      <a:round/>
                      <a:headEnd type="none" w="med" len="med"/>
                      <a:tailEnd type="none" w="med" len="med"/>
                    </a:lnL>
                    <a:lnR w="12700" cap="flat" cmpd="sng" algn="ctr">
                      <a:solidFill>
                        <a:srgbClr val="474A4E"/>
                      </a:solidFill>
                      <a:prstDash val="solid"/>
                      <a:round/>
                      <a:headEnd type="none" w="med" len="med"/>
                      <a:tailEnd type="none" w="med" len="med"/>
                    </a:lnR>
                    <a:lnT w="12700" cap="flat" cmpd="sng" algn="ctr">
                      <a:solidFill>
                        <a:srgbClr val="474A4E"/>
                      </a:solidFill>
                      <a:prstDash val="solid"/>
                      <a:round/>
                      <a:headEnd type="none" w="med" len="med"/>
                      <a:tailEnd type="none" w="med" len="med"/>
                    </a:lnT>
                    <a:lnB w="12700" cap="flat" cmpd="sng" algn="ctr">
                      <a:solidFill>
                        <a:srgbClr val="474A4E"/>
                      </a:solidFill>
                      <a:prstDash val="solid"/>
                      <a:round/>
                      <a:headEnd type="none" w="med" len="med"/>
                      <a:tailEnd type="none" w="med" len="med"/>
                    </a:lnB>
                  </a:tcPr>
                </a:tc>
                <a:tc>
                  <a:txBody>
                    <a:bodyPr/>
                    <a:lstStyle/>
                    <a:p>
                      <a:pPr marL="0" indent="0" algn="r">
                        <a:lnSpc>
                          <a:spcPts val="1960"/>
                        </a:lnSpc>
                        <a:buNone/>
                      </a:pPr>
                      <a:r>
                        <a:rPr lang="en-US" sz="1400" dirty="0">
                          <a:solidFill>
                            <a:srgbClr val="E9E4D8"/>
                          </a:solidFill>
                          <a:latin typeface="Space Grotesk" pitchFamily="34" charset="0"/>
                          <a:ea typeface="Space Grotesk" pitchFamily="34" charset="-122"/>
                          <a:cs typeface="Space Grotesk" pitchFamily="34" charset="-120"/>
                        </a:rPr>
                        <a:t>baris keliru</a:t>
                      </a:r>
                      <a:endParaRPr lang="en-US" sz="1400" dirty="0">
                        <a:latin typeface="Space Grotesk" charset="0"/>
                        <a:ea typeface="Space Grotesk" charset="0"/>
                        <a:cs typeface="Space Grotesk" charset="0"/>
                      </a:endParaRPr>
                    </a:p>
                  </a:txBody>
                  <a:tcPr marL="62230" marR="62230" marT="62230" marB="62230">
                    <a:lnL w="12700" cap="flat" cmpd="sng" algn="ctr">
                      <a:solidFill>
                        <a:srgbClr val="474A4E"/>
                      </a:solidFill>
                      <a:prstDash val="solid"/>
                      <a:round/>
                      <a:headEnd type="none" w="med" len="med"/>
                      <a:tailEnd type="none" w="med" len="med"/>
                    </a:lnL>
                    <a:lnR w="12700" cap="flat" cmpd="sng" algn="ctr">
                      <a:solidFill>
                        <a:srgbClr val="474A4E"/>
                      </a:solidFill>
                      <a:prstDash val="solid"/>
                      <a:round/>
                      <a:headEnd type="none" w="med" len="med"/>
                      <a:tailEnd type="none" w="med" len="med"/>
                    </a:lnR>
                    <a:lnT w="12700" cap="flat" cmpd="sng" algn="ctr">
                      <a:solidFill>
                        <a:srgbClr val="474A4E"/>
                      </a:solidFill>
                      <a:prstDash val="solid"/>
                      <a:round/>
                      <a:headEnd type="none" w="med" len="med"/>
                      <a:tailEnd type="none" w="med" len="med"/>
                    </a:lnT>
                    <a:lnB w="12700" cap="flat" cmpd="sng" algn="ctr">
                      <a:solidFill>
                        <a:srgbClr val="474A4E"/>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Text 7"/>
          <p:cNvSpPr/>
          <p:nvPr/>
        </p:nvSpPr>
        <p:spPr>
          <a:xfrm>
            <a:off x="812800" y="5709921"/>
            <a:ext cx="10883392" cy="36068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E9E4D8"/>
                </a:solidFill>
                <a:latin typeface="Space Grotesk" pitchFamily="34" charset="0"/>
                <a:ea typeface="Space Grotesk" pitchFamily="34" charset="-122"/>
                <a:cs typeface="Space Grotesk" pitchFamily="34" charset="-120"/>
              </a:rPr>
              <a:t>Omzet meleset </a:t>
            </a:r>
            <a:r>
              <a:rPr lang="en-US" sz="2200" b="1" dirty="0">
                <a:solidFill>
                  <a:srgbClr val="F2A541"/>
                </a:solidFill>
                <a:latin typeface="Space Grotesk" pitchFamily="34" charset="0"/>
                <a:ea typeface="Space Grotesk" pitchFamily="34" charset="-122"/>
                <a:cs typeface="Space Grotesk" pitchFamily="34" charset="-120"/>
              </a:rPr>
              <a:t>Rp 180.000</a:t>
            </a:r>
            <a:r>
              <a:rPr lang="en-US" sz="2200" dirty="0">
                <a:solidFill>
                  <a:srgbClr val="E9E4D8"/>
                </a:solidFill>
                <a:latin typeface="Space Grotesk" pitchFamily="34" charset="0"/>
                <a:ea typeface="Space Grotesk" pitchFamily="34" charset="-122"/>
                <a:cs typeface="Space Grotesk" pitchFamily="34" charset="-120"/>
              </a:rPr>
              <a:t>, sekitar 11%, padahal cuma 9 pesan.</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B1F27"/>
                </a:solidFill>
                <a:latin typeface="Space Grotesk" pitchFamily="34" charset="0"/>
                <a:ea typeface="Space Grotesk" pitchFamily="34" charset="-122"/>
                <a:cs typeface="Space Grotesk" pitchFamily="34" charset="-120"/>
              </a:rPr>
              <a:t>Tujuh pengaman, cukup pakai Python biasa</a:t>
            </a:r>
            <a:endParaRPr lang="en-US" sz="3600" dirty="0"/>
          </a:p>
        </p:txBody>
      </p:sp>
      <p:sp>
        <p:nvSpPr>
          <p:cNvPr id="3" name="Shape 1"/>
          <p:cNvSpPr/>
          <p:nvPr/>
        </p:nvSpPr>
        <p:spPr>
          <a:xfrm>
            <a:off x="812800" y="1620521"/>
            <a:ext cx="6400800" cy="2992120"/>
          </a:xfrm>
          <a:prstGeom prst="roundRect">
            <a:avLst>
              <a:gd name="adj" fmla="val 4244"/>
            </a:avLst>
          </a:prstGeom>
          <a:solidFill>
            <a:srgbClr val="14181F"/>
          </a:solidFill>
          <a:ln/>
        </p:spPr>
      </p:sp>
      <p:sp>
        <p:nvSpPr>
          <p:cNvPr id="4" name="Text 2"/>
          <p:cNvSpPr/>
          <p:nvPr/>
        </p:nvSpPr>
        <p:spPr>
          <a:xfrm>
            <a:off x="1117600" y="1925321"/>
            <a:ext cx="596493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A541"/>
                </a:solidFill>
                <a:latin typeface="JetBrains Mono" pitchFamily="49" charset="0"/>
                <a:ea typeface="JetBrains Mono" pitchFamily="49" charset="-122"/>
                <a:cs typeface="JetBrains Mono" pitchFamily="49" charset="-120"/>
              </a:rPr>
              <a:t>if</a:t>
            </a:r>
            <a:r>
              <a:rPr lang="en-US" sz="1300" dirty="0">
                <a:solidFill>
                  <a:srgbClr val="E9E4D8"/>
                </a:solidFill>
                <a:latin typeface="JetBrains Mono" pitchFamily="49" charset="0"/>
                <a:ea typeface="JetBrains Mono" pitchFamily="49" charset="-122"/>
                <a:cs typeface="JetBrains Mono" pitchFamily="49" charset="-120"/>
              </a:rPr>
              <a:t> jawaban.stop_reason == </a:t>
            </a:r>
            <a:r>
              <a:rPr lang="en-US" sz="1300" dirty="0">
                <a:solidFill>
                  <a:srgbClr val="9CC7E8"/>
                </a:solidFill>
                <a:latin typeface="JetBrains Mono" pitchFamily="49" charset="0"/>
                <a:ea typeface="JetBrains Mono" pitchFamily="49" charset="-122"/>
                <a:cs typeface="JetBrains Mono" pitchFamily="49" charset="-120"/>
              </a:rPr>
              <a:t>"max_tokens"</a:t>
            </a:r>
            <a:r>
              <a:rPr lang="en-US" sz="1300" dirty="0">
                <a:solidFill>
                  <a:srgbClr val="E9E4D8"/>
                </a:solidFill>
                <a:latin typeface="JetBrains Mono" pitchFamily="49" charset="0"/>
                <a:ea typeface="JetBrains Mono" pitchFamily="49" charset="-122"/>
                <a:cs typeface="JetBrains Mono" pitchFamily="49" charset="-120"/>
              </a:rPr>
              <a:t>: berhenti()</a:t>
            </a:r>
            <a:endParaRPr lang="en-US" sz="1300" dirty="0"/>
          </a:p>
        </p:txBody>
      </p:sp>
      <p:sp>
        <p:nvSpPr>
          <p:cNvPr id="5" name="Text 3"/>
          <p:cNvSpPr/>
          <p:nvPr/>
        </p:nvSpPr>
        <p:spPr>
          <a:xfrm>
            <a:off x="1117600" y="2232664"/>
            <a:ext cx="596493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A541"/>
                </a:solidFill>
                <a:latin typeface="JetBrains Mono" pitchFamily="49" charset="0"/>
                <a:ea typeface="JetBrains Mono" pitchFamily="49" charset="-122"/>
                <a:cs typeface="JetBrains Mono" pitchFamily="49" charset="-120"/>
              </a:rPr>
              <a:t>if</a:t>
            </a:r>
            <a:r>
              <a:rPr lang="en-US" sz="1300" dirty="0">
                <a:solidFill>
                  <a:srgbClr val="E9E4D8"/>
                </a:solidFill>
                <a:latin typeface="JetBrains Mono" pitchFamily="49" charset="0"/>
                <a:ea typeface="JetBrains Mono" pitchFamily="49" charset="-122"/>
                <a:cs typeface="JetBrains Mono" pitchFamily="49" charset="-120"/>
              </a:rPr>
              <a:t> pesan </a:t>
            </a:r>
            <a:r>
              <a:rPr lang="en-US" sz="1300" dirty="0">
                <a:solidFill>
                  <a:srgbClr val="F2A541"/>
                </a:solidFill>
                <a:latin typeface="JetBrains Mono" pitchFamily="49" charset="0"/>
                <a:ea typeface="JetBrains Mono" pitchFamily="49" charset="-122"/>
                <a:cs typeface="JetBrains Mono" pitchFamily="49" charset="-120"/>
              </a:rPr>
              <a:t>in</a:t>
            </a:r>
            <a:r>
              <a:rPr lang="en-US" sz="1300" dirty="0">
                <a:solidFill>
                  <a:srgbClr val="E9E4D8"/>
                </a:solidFill>
                <a:latin typeface="JetBrains Mono" pitchFamily="49" charset="0"/>
                <a:ea typeface="JetBrains Mono" pitchFamily="49" charset="-122"/>
                <a:cs typeface="JetBrains Mono" pitchFamily="49" charset="-120"/>
              </a:rPr>
              <a:t> sudah_ada: tandai(</a:t>
            </a:r>
            <a:r>
              <a:rPr lang="en-US" sz="1300" dirty="0">
                <a:solidFill>
                  <a:srgbClr val="9CC7E8"/>
                </a:solidFill>
                <a:latin typeface="JetBrains Mono" pitchFamily="49" charset="0"/>
                <a:ea typeface="JetBrains Mono" pitchFamily="49" charset="-122"/>
                <a:cs typeface="JetBrains Mono" pitchFamily="49" charset="-120"/>
              </a:rPr>
              <a:t>"dobel"</a:t>
            </a:r>
            <a:r>
              <a:rPr lang="en-US" sz="1300" dirty="0">
                <a:solidFill>
                  <a:srgbClr val="E9E4D8"/>
                </a:solidFill>
                <a:latin typeface="JetBrains Mono" pitchFamily="49" charset="0"/>
                <a:ea typeface="JetBrains Mono" pitchFamily="49" charset="-122"/>
                <a:cs typeface="JetBrains Mono" pitchFamily="49" charset="-120"/>
              </a:rPr>
              <a:t>)</a:t>
            </a:r>
            <a:endParaRPr lang="en-US" sz="1300" dirty="0"/>
          </a:p>
        </p:txBody>
      </p:sp>
      <p:sp>
        <p:nvSpPr>
          <p:cNvPr id="6" name="Text 4"/>
          <p:cNvSpPr/>
          <p:nvPr/>
        </p:nvSpPr>
        <p:spPr>
          <a:xfrm>
            <a:off x="1117600" y="2540000"/>
            <a:ext cx="596493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A541"/>
                </a:solidFill>
                <a:latin typeface="JetBrains Mono" pitchFamily="49" charset="0"/>
                <a:ea typeface="JetBrains Mono" pitchFamily="49" charset="-122"/>
                <a:cs typeface="JetBrains Mono" pitchFamily="49" charset="-120"/>
              </a:rPr>
              <a:t>if</a:t>
            </a:r>
            <a:r>
              <a:rPr lang="en-US" sz="1300" dirty="0">
                <a:solidFill>
                  <a:srgbClr val="E9E4D8"/>
                </a:solidFill>
                <a:latin typeface="JetBrains Mono" pitchFamily="49" charset="0"/>
                <a:ea typeface="JetBrains Mono" pitchFamily="49" charset="-122"/>
                <a:cs typeface="JetBrains Mono" pitchFamily="49" charset="-120"/>
              </a:rPr>
              <a:t> jenis == </a:t>
            </a:r>
            <a:r>
              <a:rPr lang="en-US" sz="1300" dirty="0">
                <a:solidFill>
                  <a:srgbClr val="9CC7E8"/>
                </a:solidFill>
                <a:latin typeface="JetBrains Mono" pitchFamily="49" charset="0"/>
                <a:ea typeface="JetBrains Mono" pitchFamily="49" charset="-122"/>
                <a:cs typeface="JetBrains Mono" pitchFamily="49" charset="-120"/>
              </a:rPr>
              <a:t>"tanya"</a:t>
            </a:r>
            <a:r>
              <a:rPr lang="en-US" sz="1300" dirty="0">
                <a:solidFill>
                  <a:srgbClr val="E9E4D8"/>
                </a:solidFill>
                <a:latin typeface="JetBrains Mono" pitchFamily="49" charset="0"/>
                <a:ea typeface="JetBrains Mono" pitchFamily="49" charset="-122"/>
                <a:cs typeface="JetBrains Mono" pitchFamily="49" charset="-120"/>
              </a:rPr>
              <a:t>: tandai(</a:t>
            </a:r>
            <a:r>
              <a:rPr lang="en-US" sz="1300" dirty="0">
                <a:solidFill>
                  <a:srgbClr val="9CC7E8"/>
                </a:solidFill>
                <a:latin typeface="JetBrains Mono" pitchFamily="49" charset="0"/>
                <a:ea typeface="JetBrains Mono" pitchFamily="49" charset="-122"/>
                <a:cs typeface="JetBrains Mono" pitchFamily="49" charset="-120"/>
              </a:rPr>
              <a:t>"cek manual"</a:t>
            </a:r>
            <a:r>
              <a:rPr lang="en-US" sz="1300" dirty="0">
                <a:solidFill>
                  <a:srgbClr val="E9E4D8"/>
                </a:solidFill>
                <a:latin typeface="JetBrains Mono" pitchFamily="49" charset="0"/>
                <a:ea typeface="JetBrains Mono" pitchFamily="49" charset="-122"/>
                <a:cs typeface="JetBrains Mono" pitchFamily="49" charset="-120"/>
              </a:rPr>
              <a:t>)</a:t>
            </a:r>
            <a:endParaRPr lang="en-US" sz="1300" dirty="0"/>
          </a:p>
        </p:txBody>
      </p:sp>
      <p:sp>
        <p:nvSpPr>
          <p:cNvPr id="7" name="Text 5"/>
          <p:cNvSpPr/>
          <p:nvPr/>
        </p:nvSpPr>
        <p:spPr>
          <a:xfrm>
            <a:off x="1117600" y="2847342"/>
            <a:ext cx="596493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A541"/>
                </a:solidFill>
                <a:latin typeface="JetBrains Mono" pitchFamily="49" charset="0"/>
                <a:ea typeface="JetBrains Mono" pitchFamily="49" charset="-122"/>
                <a:cs typeface="JetBrains Mono" pitchFamily="49" charset="-120"/>
              </a:rPr>
              <a:t>if</a:t>
            </a:r>
            <a:r>
              <a:rPr lang="en-US" sz="1300" dirty="0">
                <a:solidFill>
                  <a:srgbClr val="E9E4D8"/>
                </a:solidFill>
                <a:latin typeface="JetBrains Mono" pitchFamily="49" charset="0"/>
                <a:ea typeface="JetBrains Mono" pitchFamily="49" charset="-122"/>
                <a:cs typeface="JetBrains Mono" pitchFamily="49" charset="-120"/>
              </a:rPr>
              <a:t> kode </a:t>
            </a:r>
            <a:r>
              <a:rPr lang="en-US" sz="1300" dirty="0">
                <a:solidFill>
                  <a:srgbClr val="F2A541"/>
                </a:solidFill>
                <a:latin typeface="JetBrains Mono" pitchFamily="49" charset="0"/>
                <a:ea typeface="JetBrains Mono" pitchFamily="49" charset="-122"/>
                <a:cs typeface="JetBrains Mono" pitchFamily="49" charset="-120"/>
              </a:rPr>
              <a:t>not in</a:t>
            </a:r>
            <a:r>
              <a:rPr lang="en-US" sz="1300" dirty="0">
                <a:solidFill>
                  <a:srgbClr val="E9E4D8"/>
                </a:solidFill>
                <a:latin typeface="JetBrains Mono" pitchFamily="49" charset="0"/>
                <a:ea typeface="JetBrains Mono" pitchFamily="49" charset="-122"/>
                <a:cs typeface="JetBrains Mono" pitchFamily="49" charset="-120"/>
              </a:rPr>
              <a:t> katalog: tandai(</a:t>
            </a:r>
            <a:r>
              <a:rPr lang="en-US" sz="1300" dirty="0">
                <a:solidFill>
                  <a:srgbClr val="9CC7E8"/>
                </a:solidFill>
                <a:latin typeface="JetBrains Mono" pitchFamily="49" charset="0"/>
                <a:ea typeface="JetBrains Mono" pitchFamily="49" charset="-122"/>
                <a:cs typeface="JetBrains Mono" pitchFamily="49" charset="-120"/>
              </a:rPr>
              <a:t>"produk asing"</a:t>
            </a:r>
            <a:r>
              <a:rPr lang="en-US" sz="1300" dirty="0">
                <a:solidFill>
                  <a:srgbClr val="E9E4D8"/>
                </a:solidFill>
                <a:latin typeface="JetBrains Mono" pitchFamily="49" charset="0"/>
                <a:ea typeface="JetBrains Mono" pitchFamily="49" charset="-122"/>
                <a:cs typeface="JetBrains Mono" pitchFamily="49" charset="-120"/>
              </a:rPr>
              <a:t>)</a:t>
            </a:r>
            <a:endParaRPr lang="en-US" sz="1300" dirty="0"/>
          </a:p>
        </p:txBody>
      </p:sp>
      <p:sp>
        <p:nvSpPr>
          <p:cNvPr id="8" name="Text 6"/>
          <p:cNvSpPr/>
          <p:nvPr/>
        </p:nvSpPr>
        <p:spPr>
          <a:xfrm>
            <a:off x="1117600" y="3154679"/>
            <a:ext cx="596493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A541"/>
                </a:solidFill>
                <a:latin typeface="JetBrains Mono" pitchFamily="49" charset="0"/>
                <a:ea typeface="JetBrains Mono" pitchFamily="49" charset="-122"/>
                <a:cs typeface="JetBrains Mono" pitchFamily="49" charset="-120"/>
              </a:rPr>
              <a:t>if</a:t>
            </a:r>
            <a:r>
              <a:rPr lang="en-US" sz="1300" dirty="0">
                <a:solidFill>
                  <a:srgbClr val="E9E4D8"/>
                </a:solidFill>
                <a:latin typeface="JetBrains Mono" pitchFamily="49" charset="0"/>
                <a:ea typeface="JetBrains Mono" pitchFamily="49" charset="-122"/>
                <a:cs typeface="JetBrains Mono" pitchFamily="49" charset="-120"/>
              </a:rPr>
              <a:t> jumlah &lt;= 0: tandai(</a:t>
            </a:r>
            <a:r>
              <a:rPr lang="en-US" sz="1300" dirty="0">
                <a:solidFill>
                  <a:srgbClr val="9CC7E8"/>
                </a:solidFill>
                <a:latin typeface="JetBrains Mono" pitchFamily="49" charset="0"/>
                <a:ea typeface="JetBrains Mono" pitchFamily="49" charset="-122"/>
                <a:cs typeface="JetBrains Mono" pitchFamily="49" charset="-120"/>
              </a:rPr>
              <a:t>"jumlah aneh"</a:t>
            </a:r>
            <a:r>
              <a:rPr lang="en-US" sz="1300" dirty="0">
                <a:solidFill>
                  <a:srgbClr val="E9E4D8"/>
                </a:solidFill>
                <a:latin typeface="JetBrains Mono" pitchFamily="49" charset="0"/>
                <a:ea typeface="JetBrains Mono" pitchFamily="49" charset="-122"/>
                <a:cs typeface="JetBrains Mono" pitchFamily="49" charset="-120"/>
              </a:rPr>
              <a:t>)</a:t>
            </a:r>
            <a:endParaRPr lang="en-US" sz="1300" dirty="0"/>
          </a:p>
        </p:txBody>
      </p:sp>
      <p:sp>
        <p:nvSpPr>
          <p:cNvPr id="9" name="Text 7"/>
          <p:cNvSpPr/>
          <p:nvPr/>
        </p:nvSpPr>
        <p:spPr>
          <a:xfrm>
            <a:off x="1117600" y="3462021"/>
            <a:ext cx="596493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9E4D8"/>
                </a:solidFill>
                <a:latin typeface="JetBrains Mono" pitchFamily="49" charset="0"/>
                <a:ea typeface="JetBrains Mono" pitchFamily="49" charset="-122"/>
                <a:cs typeface="JetBrains Mono" pitchFamily="49" charset="-120"/>
              </a:rPr>
              <a:t>harga = katalog[kode].harga</a:t>
            </a:r>
            <a:endParaRPr lang="en-US" sz="1300" dirty="0"/>
          </a:p>
        </p:txBody>
      </p:sp>
      <p:sp>
        <p:nvSpPr>
          <p:cNvPr id="10" name="Text 8"/>
          <p:cNvSpPr/>
          <p:nvPr/>
        </p:nvSpPr>
        <p:spPr>
          <a:xfrm>
            <a:off x="1117600" y="3769364"/>
            <a:ext cx="596493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A8F99"/>
                </a:solidFill>
                <a:latin typeface="JetBrains Mono" pitchFamily="49" charset="0"/>
                <a:ea typeface="JetBrains Mono" pitchFamily="49" charset="-122"/>
                <a:cs typeface="JetBrains Mono" pitchFamily="49" charset="-120"/>
              </a:rPr>
              <a:t># harga tidak pernah diambil dari AI</a:t>
            </a:r>
            <a:endParaRPr lang="en-US" sz="1300" dirty="0"/>
          </a:p>
        </p:txBody>
      </p:sp>
      <p:sp>
        <p:nvSpPr>
          <p:cNvPr id="11" name="Text 9"/>
          <p:cNvSpPr/>
          <p:nvPr/>
        </p:nvSpPr>
        <p:spPr>
          <a:xfrm>
            <a:off x="1117600" y="4076700"/>
            <a:ext cx="596493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A541"/>
                </a:solidFill>
                <a:latin typeface="JetBrains Mono" pitchFamily="49" charset="0"/>
                <a:ea typeface="JetBrains Mono" pitchFamily="49" charset="-122"/>
                <a:cs typeface="JetBrains Mono" pitchFamily="49" charset="-120"/>
              </a:rPr>
              <a:t>if</a:t>
            </a:r>
            <a:r>
              <a:rPr lang="en-US" sz="1300" dirty="0">
                <a:solidFill>
                  <a:srgbClr val="E9E4D8"/>
                </a:solidFill>
                <a:latin typeface="JetBrains Mono" pitchFamily="49" charset="0"/>
                <a:ea typeface="JetBrains Mono" pitchFamily="49" charset="-122"/>
                <a:cs typeface="JetBrains Mono" pitchFamily="49" charset="-120"/>
              </a:rPr>
              <a:t> jenis == </a:t>
            </a:r>
            <a:r>
              <a:rPr lang="en-US" sz="1300" dirty="0">
                <a:solidFill>
                  <a:srgbClr val="9CC7E8"/>
                </a:solidFill>
                <a:latin typeface="JetBrains Mono" pitchFamily="49" charset="0"/>
                <a:ea typeface="JetBrains Mono" pitchFamily="49" charset="-122"/>
                <a:cs typeface="JetBrains Mono" pitchFamily="49" charset="-120"/>
              </a:rPr>
              <a:t>"ralat"</a:t>
            </a:r>
            <a:r>
              <a:rPr lang="en-US" sz="1300" dirty="0">
                <a:solidFill>
                  <a:srgbClr val="E9E4D8"/>
                </a:solidFill>
                <a:latin typeface="JetBrains Mono" pitchFamily="49" charset="0"/>
                <a:ea typeface="JetBrains Mono" pitchFamily="49" charset="-122"/>
                <a:cs typeface="JetBrains Mono" pitchFamily="49" charset="-120"/>
              </a:rPr>
              <a:t>: ganti(baris_lama)</a:t>
            </a:r>
            <a:endParaRPr lang="en-US" sz="1300" dirty="0"/>
          </a:p>
        </p:txBody>
      </p:sp>
      <p:sp>
        <p:nvSpPr>
          <p:cNvPr id="12" name="Text 10"/>
          <p:cNvSpPr/>
          <p:nvPr/>
        </p:nvSpPr>
        <p:spPr>
          <a:xfrm>
            <a:off x="7518400" y="2278379"/>
            <a:ext cx="3976624" cy="6959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B1F27"/>
                </a:solidFill>
                <a:latin typeface="Space Grotesk" pitchFamily="34" charset="0"/>
                <a:ea typeface="Space Grotesk" pitchFamily="34" charset="-122"/>
                <a:cs typeface="Space Grotesk" pitchFamily="34" charset="-120"/>
              </a:rPr>
              <a:t>Tiap pengaman cuma 2–3 baris.</a:t>
            </a:r>
            <a:endParaRPr lang="en-US" sz="2200" dirty="0"/>
          </a:p>
        </p:txBody>
      </p:sp>
      <p:sp>
        <p:nvSpPr>
          <p:cNvPr id="13" name="Text 11"/>
          <p:cNvSpPr/>
          <p:nvPr/>
        </p:nvSpPr>
        <p:spPr>
          <a:xfrm>
            <a:off x="7518400" y="3101342"/>
            <a:ext cx="3976624"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160"/>
                </a:solidFill>
                <a:latin typeface="Space Grotesk" pitchFamily="34" charset="0"/>
                <a:ea typeface="Space Grotesk" pitchFamily="34" charset="-122"/>
                <a:cs typeface="Space Grotesk" pitchFamily="34" charset="-120"/>
              </a:rPr>
              <a:t>Tapi gabungan ketujuhnya yang membedakan demo dengan bisnis sungguhan.</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4181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F2A541"/>
                </a:solidFill>
                <a:latin typeface="Space Grotesk" pitchFamily="34" charset="0"/>
                <a:ea typeface="Space Grotesk" pitchFamily="34" charset="-122"/>
                <a:cs typeface="Space Grotesk" pitchFamily="34" charset="-120"/>
              </a:rPr>
              <a:t>PLOT TWIST</a:t>
            </a:r>
            <a:endParaRPr lang="en-US" sz="1600" dirty="0"/>
          </a:p>
        </p:txBody>
      </p:sp>
      <p:sp>
        <p:nvSpPr>
          <p:cNvPr id="3" name="Text 1"/>
          <p:cNvSpPr>
            <a:spLocks noGrp="1"/>
          </p:cNvSpPr>
          <p:nvPr>
            <p:ph type="title"/>
          </p:nvPr>
        </p:nvSpPr>
        <p:spPr>
          <a:xfrm>
            <a:off x="812800" y="1249679"/>
            <a:ext cx="10883392"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Bikin demo itu murah. Bikin sistem yang jalan beneran itu mahal.</a:t>
            </a:r>
            <a:endParaRPr lang="en-US" sz="3600" dirty="0"/>
          </a:p>
        </p:txBody>
      </p:sp>
      <p:sp>
        <p:nvSpPr>
          <p:cNvPr id="4" name="Text 2"/>
          <p:cNvSpPr/>
          <p:nvPr/>
        </p:nvSpPr>
        <p:spPr>
          <a:xfrm>
            <a:off x="812800" y="2407921"/>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4A8"/>
                </a:solidFill>
                <a:latin typeface="Space Grotesk" pitchFamily="34" charset="0"/>
                <a:ea typeface="Space Grotesk" pitchFamily="34" charset="-122"/>
                <a:cs typeface="Space Grotesk" pitchFamily="34" charset="-120"/>
              </a:rPr>
              <a:t>AI bisa menulis kodenya, tapi tidak bisa menjamin:</a:t>
            </a:r>
            <a:endParaRPr lang="en-US" sz="1600" dirty="0"/>
          </a:p>
        </p:txBody>
      </p:sp>
      <p:sp>
        <p:nvSpPr>
          <p:cNvPr id="5" name="Shape 3"/>
          <p:cNvSpPr/>
          <p:nvPr/>
        </p:nvSpPr>
        <p:spPr>
          <a:xfrm>
            <a:off x="815975" y="3416939"/>
            <a:ext cx="3380264" cy="1619250"/>
          </a:xfrm>
          <a:prstGeom prst="roundRect">
            <a:avLst>
              <a:gd name="adj" fmla="val 7647"/>
            </a:avLst>
          </a:prstGeom>
          <a:solidFill>
            <a:srgbClr val="1E2430"/>
          </a:solidFill>
          <a:ln w="6350">
            <a:solidFill>
              <a:srgbClr val="2E3644"/>
            </a:solidFill>
            <a:prstDash val="solid"/>
          </a:ln>
        </p:spPr>
      </p:sp>
      <p:sp>
        <p:nvSpPr>
          <p:cNvPr id="6" name="Text 4"/>
          <p:cNvSpPr/>
          <p:nvPr/>
        </p:nvSpPr>
        <p:spPr>
          <a:xfrm>
            <a:off x="1122680" y="3723642"/>
            <a:ext cx="284985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2A541"/>
                </a:solidFill>
                <a:latin typeface="Space Grotesk" pitchFamily="34" charset="0"/>
                <a:ea typeface="Space Grotesk" pitchFamily="34" charset="-122"/>
                <a:cs typeface="Space Grotesk" pitchFamily="34" charset="-120"/>
              </a:rPr>
              <a:t>Sekali saja</a:t>
            </a:r>
            <a:endParaRPr lang="en-US" sz="2200" dirty="0"/>
          </a:p>
        </p:txBody>
      </p:sp>
      <p:sp>
        <p:nvSpPr>
          <p:cNvPr id="7" name="Text 5"/>
          <p:cNvSpPr/>
          <p:nvPr/>
        </p:nvSpPr>
        <p:spPr>
          <a:xfrm>
            <a:off x="1122680" y="4160521"/>
            <a:ext cx="2849859"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9E4D8"/>
                </a:solidFill>
                <a:latin typeface="Space Grotesk" pitchFamily="34" charset="0"/>
                <a:ea typeface="Space Grotesk" pitchFamily="34" charset="-122"/>
                <a:cs typeface="Space Grotesk" pitchFamily="34" charset="-120"/>
              </a:rPr>
              <a:t>Satu pembayaran tidak terproses dua kali.</a:t>
            </a:r>
            <a:endParaRPr lang="en-US" sz="1600" dirty="0"/>
          </a:p>
        </p:txBody>
      </p:sp>
      <p:sp>
        <p:nvSpPr>
          <p:cNvPr id="8" name="Shape 6"/>
          <p:cNvSpPr/>
          <p:nvPr/>
        </p:nvSpPr>
        <p:spPr>
          <a:xfrm>
            <a:off x="4405789" y="3416939"/>
            <a:ext cx="3380343" cy="1619250"/>
          </a:xfrm>
          <a:prstGeom prst="roundRect">
            <a:avLst>
              <a:gd name="adj" fmla="val 7647"/>
            </a:avLst>
          </a:prstGeom>
          <a:solidFill>
            <a:srgbClr val="1E2430"/>
          </a:solidFill>
          <a:ln w="6350">
            <a:solidFill>
              <a:srgbClr val="2E3644"/>
            </a:solidFill>
            <a:prstDash val="solid"/>
          </a:ln>
        </p:spPr>
      </p:sp>
      <p:sp>
        <p:nvSpPr>
          <p:cNvPr id="9" name="Text 7"/>
          <p:cNvSpPr/>
          <p:nvPr/>
        </p:nvSpPr>
        <p:spPr>
          <a:xfrm>
            <a:off x="4712494" y="3723642"/>
            <a:ext cx="284994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2A541"/>
                </a:solidFill>
                <a:latin typeface="Space Grotesk" pitchFamily="34" charset="0"/>
                <a:ea typeface="Space Grotesk" pitchFamily="34" charset="-122"/>
                <a:cs typeface="Space Grotesk" pitchFamily="34" charset="-120"/>
              </a:rPr>
              <a:t>Bisa dilacak</a:t>
            </a:r>
            <a:endParaRPr lang="en-US" sz="2200" dirty="0"/>
          </a:p>
        </p:txBody>
      </p:sp>
      <p:sp>
        <p:nvSpPr>
          <p:cNvPr id="10" name="Text 8"/>
          <p:cNvSpPr/>
          <p:nvPr/>
        </p:nvSpPr>
        <p:spPr>
          <a:xfrm>
            <a:off x="4712494" y="4160521"/>
            <a:ext cx="2849941"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9E4D8"/>
                </a:solidFill>
                <a:latin typeface="Space Grotesk" pitchFamily="34" charset="0"/>
                <a:ea typeface="Space Grotesk" pitchFamily="34" charset="-122"/>
                <a:cs typeface="Space Grotesk" pitchFamily="34" charset="-120"/>
              </a:rPr>
              <a:t>Setiap rupiah punya jejak audit.</a:t>
            </a:r>
            <a:endParaRPr lang="en-US" sz="1600" dirty="0"/>
          </a:p>
        </p:txBody>
      </p:sp>
      <p:sp>
        <p:nvSpPr>
          <p:cNvPr id="11" name="Shape 9"/>
          <p:cNvSpPr/>
          <p:nvPr/>
        </p:nvSpPr>
        <p:spPr>
          <a:xfrm>
            <a:off x="7995682" y="3416939"/>
            <a:ext cx="3380343" cy="1619250"/>
          </a:xfrm>
          <a:prstGeom prst="roundRect">
            <a:avLst>
              <a:gd name="adj" fmla="val 7647"/>
            </a:avLst>
          </a:prstGeom>
          <a:solidFill>
            <a:srgbClr val="1E2430"/>
          </a:solidFill>
          <a:ln w="6350">
            <a:solidFill>
              <a:srgbClr val="2E3644"/>
            </a:solidFill>
            <a:prstDash val="solid"/>
          </a:ln>
        </p:spPr>
      </p:sp>
      <p:sp>
        <p:nvSpPr>
          <p:cNvPr id="12" name="Text 10"/>
          <p:cNvSpPr/>
          <p:nvPr/>
        </p:nvSpPr>
        <p:spPr>
          <a:xfrm>
            <a:off x="8302387" y="3723642"/>
            <a:ext cx="284994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2A541"/>
                </a:solidFill>
                <a:latin typeface="Space Grotesk" pitchFamily="34" charset="0"/>
                <a:ea typeface="Space Grotesk" pitchFamily="34" charset="-122"/>
                <a:cs typeface="Space Grotesk" pitchFamily="34" charset="-120"/>
              </a:rPr>
              <a:t>Terpisah</a:t>
            </a:r>
            <a:endParaRPr lang="en-US" sz="2200" dirty="0"/>
          </a:p>
        </p:txBody>
      </p:sp>
      <p:sp>
        <p:nvSpPr>
          <p:cNvPr id="13" name="Text 11"/>
          <p:cNvSpPr/>
          <p:nvPr/>
        </p:nvSpPr>
        <p:spPr>
          <a:xfrm>
            <a:off x="8302387" y="4160521"/>
            <a:ext cx="2849941"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9E4D8"/>
                </a:solidFill>
                <a:latin typeface="Space Grotesk" pitchFamily="34" charset="0"/>
                <a:ea typeface="Space Grotesk" pitchFamily="34" charset="-122"/>
                <a:cs typeface="Space Grotesk" pitchFamily="34" charset="-120"/>
              </a:rPr>
              <a:t>Data satu pelanggan tidak bocor ke pelanggan lain.</a:t>
            </a:r>
            <a:endParaRPr lang="en-US" sz="1600" dirty="0"/>
          </a:p>
        </p:txBody>
      </p:sp>
      <p:sp>
        <p:nvSpPr>
          <p:cNvPr id="14" name="Text 12"/>
          <p:cNvSpPr/>
          <p:nvPr/>
        </p:nvSpPr>
        <p:spPr>
          <a:xfrm>
            <a:off x="812800" y="5760721"/>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4A8"/>
                </a:solidFill>
                <a:latin typeface="Space Grotesk" pitchFamily="34" charset="0"/>
                <a:ea typeface="Space Grotesk" pitchFamily="34" charset="-122"/>
                <a:cs typeface="Space Grotesk" pitchFamily="34" charset="-120"/>
              </a:rPr>
              <a:t>10% terakhir inilah yang menentukan perusahaan bertahan atau tumbang.</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2F6E9E"/>
                </a:solidFill>
                <a:latin typeface="Space Grotesk" pitchFamily="34" charset="0"/>
                <a:ea typeface="Space Grotesk" pitchFamily="34" charset="-122"/>
                <a:cs typeface="Space Grotesk" pitchFamily="34" charset="-120"/>
              </a:rPr>
              <a:t>CONTOH NYATA · AI SLOP</a:t>
            </a:r>
            <a:endParaRPr lang="en-US" sz="1600" dirty="0"/>
          </a:p>
        </p:txBody>
      </p:sp>
      <p:sp>
        <p:nvSpPr>
          <p:cNvPr id="3" name="Text 1"/>
          <p:cNvSpPr>
            <a:spLocks noGrp="1"/>
          </p:cNvSpPr>
          <p:nvPr>
            <p:ph type="title"/>
          </p:nvPr>
        </p:nvSpPr>
        <p:spPr>
          <a:xfrm>
            <a:off x="812800" y="1224279"/>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B1F27"/>
                </a:solidFill>
                <a:latin typeface="Space Grotesk" pitchFamily="34" charset="0"/>
                <a:ea typeface="Space Grotesk" pitchFamily="34" charset="-122"/>
                <a:cs typeface="Space Grotesk" pitchFamily="34" charset="-120"/>
              </a:rPr>
              <a:t>AI bilang beres. Excel bilang tidak.</a:t>
            </a:r>
            <a:endParaRPr lang="en-US" sz="3600" dirty="0"/>
          </a:p>
        </p:txBody>
      </p:sp>
      <p:sp>
        <p:nvSpPr>
          <p:cNvPr id="4" name="Shape 2"/>
          <p:cNvSpPr/>
          <p:nvPr/>
        </p:nvSpPr>
        <p:spPr>
          <a:xfrm>
            <a:off x="812800" y="2032000"/>
            <a:ext cx="4064000" cy="2390140"/>
          </a:xfrm>
          <a:prstGeom prst="roundRect">
            <a:avLst>
              <a:gd name="adj" fmla="val 5313"/>
            </a:avLst>
          </a:prstGeom>
          <a:solidFill>
            <a:srgbClr val="14181F"/>
          </a:solidFill>
          <a:ln/>
        </p:spPr>
      </p:sp>
      <p:sp>
        <p:nvSpPr>
          <p:cNvPr id="5" name="Text 3"/>
          <p:cNvSpPr/>
          <p:nvPr/>
        </p:nvSpPr>
        <p:spPr>
          <a:xfrm>
            <a:off x="1092200" y="2311400"/>
            <a:ext cx="361035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A541"/>
                </a:solidFill>
                <a:latin typeface="JetBrains Mono" pitchFamily="49" charset="0"/>
                <a:ea typeface="JetBrains Mono" pitchFamily="49" charset="-122"/>
                <a:cs typeface="JetBrains Mono" pitchFamily="49" charset="-120"/>
              </a:rPr>
              <a:t>Cycle_Time_Upload_Template.xlsx</a:t>
            </a:r>
            <a:endParaRPr lang="en-US" sz="1300" dirty="0"/>
          </a:p>
        </p:txBody>
      </p:sp>
      <p:sp>
        <p:nvSpPr>
          <p:cNvPr id="6" name="Text 4"/>
          <p:cNvSpPr/>
          <p:nvPr/>
        </p:nvSpPr>
        <p:spPr>
          <a:xfrm>
            <a:off x="1092200" y="2631442"/>
            <a:ext cx="361035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A8F99"/>
                </a:solidFill>
                <a:latin typeface="JetBrains Mono" pitchFamily="49" charset="0"/>
                <a:ea typeface="JetBrains Mono" pitchFamily="49" charset="-122"/>
                <a:cs typeface="JetBrains Mono" pitchFamily="49" charset="-120"/>
              </a:rPr>
              <a:t>dibuat AI, lewat openpyxl</a:t>
            </a:r>
            <a:endParaRPr lang="en-US" sz="1300" dirty="0"/>
          </a:p>
        </p:txBody>
      </p:sp>
      <p:sp>
        <p:nvSpPr>
          <p:cNvPr id="7" name="Text 5"/>
          <p:cNvSpPr/>
          <p:nvPr/>
        </p:nvSpPr>
        <p:spPr>
          <a:xfrm>
            <a:off x="1092200" y="2951479"/>
            <a:ext cx="361035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9E4D8"/>
                </a:solidFill>
                <a:latin typeface="JetBrains Mono" pitchFamily="49" charset="0"/>
                <a:ea typeface="JetBrains Mono" pitchFamily="49" charset="-122"/>
                <a:cs typeface="JetBrains Mono" pitchFamily="49" charset="-120"/>
              </a:rPr>
              <a:t>skrip jalan tanpa error: </a:t>
            </a:r>
            <a:r>
              <a:rPr lang="en-US" sz="1300" dirty="0">
                <a:solidFill>
                  <a:srgbClr val="9CC7E8"/>
                </a:solidFill>
                <a:latin typeface="JetBrains Mono" pitchFamily="49" charset="0"/>
                <a:ea typeface="JetBrains Mono" pitchFamily="49" charset="-122"/>
                <a:cs typeface="JetBrains Mono" pitchFamily="49" charset="-120"/>
              </a:rPr>
              <a:t>ya</a:t>
            </a:r>
            <a:endParaRPr lang="en-US" sz="1300" dirty="0"/>
          </a:p>
        </p:txBody>
      </p:sp>
      <p:sp>
        <p:nvSpPr>
          <p:cNvPr id="8" name="Text 6"/>
          <p:cNvSpPr/>
          <p:nvPr/>
        </p:nvSpPr>
        <p:spPr>
          <a:xfrm>
            <a:off x="1092200" y="3271521"/>
            <a:ext cx="361035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9E4D8"/>
                </a:solidFill>
                <a:latin typeface="JetBrains Mono" pitchFamily="49" charset="0"/>
                <a:ea typeface="JetBrains Mono" pitchFamily="49" charset="-122"/>
                <a:cs typeface="JetBrains Mono" pitchFamily="49" charset="-120"/>
              </a:rPr>
              <a:t>8 kolom header: </a:t>
            </a:r>
            <a:r>
              <a:rPr lang="en-US" sz="1300" dirty="0">
                <a:solidFill>
                  <a:srgbClr val="9CC7E8"/>
                </a:solidFill>
                <a:latin typeface="JetBrains Mono" pitchFamily="49" charset="0"/>
                <a:ea typeface="JetBrains Mono" pitchFamily="49" charset="-122"/>
                <a:cs typeface="JetBrains Mono" pitchFamily="49" charset="-120"/>
              </a:rPr>
              <a:t>ya</a:t>
            </a:r>
            <a:endParaRPr lang="en-US" sz="1300" dirty="0"/>
          </a:p>
        </p:txBody>
      </p:sp>
      <p:sp>
        <p:nvSpPr>
          <p:cNvPr id="9" name="Text 7"/>
          <p:cNvSpPr/>
          <p:nvPr/>
        </p:nvSpPr>
        <p:spPr>
          <a:xfrm>
            <a:off x="1092200" y="3591564"/>
            <a:ext cx="361035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9E4D8"/>
                </a:solidFill>
                <a:latin typeface="JetBrains Mono" pitchFamily="49" charset="0"/>
                <a:ea typeface="JetBrains Mono" pitchFamily="49" charset="-122"/>
                <a:cs typeface="JetBrains Mono" pitchFamily="49" charset="-120"/>
              </a:rPr>
              <a:t>baris atas dikunci: </a:t>
            </a:r>
            <a:r>
              <a:rPr lang="en-US" sz="1300" dirty="0">
                <a:solidFill>
                  <a:srgbClr val="9CC7E8"/>
                </a:solidFill>
                <a:latin typeface="JetBrains Mono" pitchFamily="49" charset="0"/>
                <a:ea typeface="JetBrains Mono" pitchFamily="49" charset="-122"/>
                <a:cs typeface="JetBrains Mono" pitchFamily="49" charset="-120"/>
              </a:rPr>
              <a:t>ya</a:t>
            </a:r>
            <a:endParaRPr lang="en-US" sz="1300" dirty="0"/>
          </a:p>
        </p:txBody>
      </p:sp>
      <p:sp>
        <p:nvSpPr>
          <p:cNvPr id="10" name="Text 8"/>
          <p:cNvSpPr/>
          <p:nvPr/>
        </p:nvSpPr>
        <p:spPr>
          <a:xfrm>
            <a:off x="1092200" y="3911600"/>
            <a:ext cx="3610356"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9E4D8"/>
                </a:solidFill>
                <a:latin typeface="JetBrains Mono" pitchFamily="49" charset="0"/>
                <a:ea typeface="JetBrains Mono" pitchFamily="49" charset="-122"/>
                <a:cs typeface="JetBrains Mono" pitchFamily="49" charset="-120"/>
              </a:rPr>
              <a:t>bisa dibuka di Excel: </a:t>
            </a:r>
            <a:r>
              <a:rPr lang="en-US" sz="1300" b="1" dirty="0">
                <a:solidFill>
                  <a:srgbClr val="F2A541"/>
                </a:solidFill>
                <a:latin typeface="JetBrains Mono" pitchFamily="49" charset="0"/>
                <a:ea typeface="JetBrains Mono" pitchFamily="49" charset="-122"/>
                <a:cs typeface="JetBrains Mono" pitchFamily="49" charset="-120"/>
              </a:rPr>
              <a:t>tidak</a:t>
            </a:r>
            <a:endParaRPr lang="en-US" sz="1300" dirty="0"/>
          </a:p>
        </p:txBody>
      </p:sp>
      <p:sp>
        <p:nvSpPr>
          <p:cNvPr id="11" name="Text 9"/>
          <p:cNvSpPr/>
          <p:nvPr/>
        </p:nvSpPr>
        <p:spPr>
          <a:xfrm>
            <a:off x="812800" y="4676142"/>
            <a:ext cx="4185920" cy="6959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B1F27"/>
                </a:solidFill>
                <a:latin typeface="Space Grotesk" pitchFamily="34" charset="0"/>
                <a:ea typeface="Space Grotesk" pitchFamily="34" charset="-122"/>
                <a:cs typeface="Space Grotesk" pitchFamily="34" charset="-120"/>
              </a:rPr>
              <a:t>Kodenya lancar. Filenya tidak bisa dipakai.</a:t>
            </a:r>
            <a:endParaRPr lang="en-US" sz="2200" dirty="0"/>
          </a:p>
        </p:txBody>
      </p:sp>
      <p:sp>
        <p:nvSpPr>
          <p:cNvPr id="12" name="Shape 10"/>
          <p:cNvSpPr/>
          <p:nvPr/>
        </p:nvSpPr>
        <p:spPr>
          <a:xfrm>
            <a:off x="5184775" y="2035175"/>
            <a:ext cx="6191250" cy="1220470"/>
          </a:xfrm>
          <a:prstGeom prst="roundRect">
            <a:avLst>
              <a:gd name="adj" fmla="val 10146"/>
            </a:avLst>
          </a:prstGeom>
          <a:solidFill>
            <a:srgbClr val="FFFDF8"/>
          </a:solidFill>
          <a:ln w="6350">
            <a:solidFill>
              <a:srgbClr val="E2DCCD"/>
            </a:solidFill>
            <a:prstDash val="solid"/>
          </a:ln>
        </p:spPr>
      </p:sp>
      <p:sp>
        <p:nvSpPr>
          <p:cNvPr id="13" name="Text 11"/>
          <p:cNvSpPr/>
          <p:nvPr/>
        </p:nvSpPr>
        <p:spPr>
          <a:xfrm>
            <a:off x="5440680" y="2240279"/>
            <a:ext cx="5849823"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6E9E"/>
                </a:solidFill>
                <a:latin typeface="JetBrains Mono" pitchFamily="49" charset="0"/>
                <a:ea typeface="JetBrains Mono" pitchFamily="49" charset="-122"/>
                <a:cs typeface="JetBrains Mono" pitchFamily="49" charset="-120"/>
              </a:rPr>
              <a:t>2026-10-01T05:09:32+00:00Z</a:t>
            </a:r>
            <a:endParaRPr lang="en-US" sz="1400" dirty="0"/>
          </a:p>
        </p:txBody>
      </p:sp>
      <p:sp>
        <p:nvSpPr>
          <p:cNvPr id="14" name="Text 12"/>
          <p:cNvSpPr/>
          <p:nvPr/>
        </p:nvSpPr>
        <p:spPr>
          <a:xfrm>
            <a:off x="5440680" y="2552700"/>
            <a:ext cx="584982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160"/>
                </a:solidFill>
                <a:latin typeface="Space Grotesk" pitchFamily="34" charset="0"/>
                <a:ea typeface="Space Grotesk" pitchFamily="34" charset="-122"/>
                <a:cs typeface="Space Grotesk" pitchFamily="34" charset="-120"/>
              </a:rPr>
              <a:t>Dua zona waktu sekaligus, jadi bukan tanggal yang valid. Tersangka utama kenapa Excel menolak file ini.</a:t>
            </a:r>
            <a:endParaRPr lang="en-US" sz="1400" dirty="0"/>
          </a:p>
        </p:txBody>
      </p:sp>
      <p:sp>
        <p:nvSpPr>
          <p:cNvPr id="15" name="Shape 13"/>
          <p:cNvSpPr/>
          <p:nvPr/>
        </p:nvSpPr>
        <p:spPr>
          <a:xfrm>
            <a:off x="5184775" y="3414396"/>
            <a:ext cx="6191250" cy="1220470"/>
          </a:xfrm>
          <a:prstGeom prst="roundRect">
            <a:avLst>
              <a:gd name="adj" fmla="val 10146"/>
            </a:avLst>
          </a:prstGeom>
          <a:solidFill>
            <a:srgbClr val="FFFDF8"/>
          </a:solidFill>
          <a:ln w="6350">
            <a:solidFill>
              <a:srgbClr val="E2DCCD"/>
            </a:solidFill>
            <a:prstDash val="solid"/>
          </a:ln>
        </p:spPr>
      </p:sp>
      <p:sp>
        <p:nvSpPr>
          <p:cNvPr id="16" name="Text 14"/>
          <p:cNvSpPr/>
          <p:nvPr/>
        </p:nvSpPr>
        <p:spPr>
          <a:xfrm>
            <a:off x="5440680" y="3619500"/>
            <a:ext cx="5849823"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6E9E"/>
                </a:solidFill>
                <a:latin typeface="Space Grotesk" pitchFamily="34" charset="0"/>
                <a:ea typeface="Space Grotesk" pitchFamily="34" charset="-122"/>
                <a:cs typeface="Space Grotesk" pitchFamily="34" charset="-120"/>
              </a:rPr>
              <a:t>Header disimpan sebagai "inline string"</a:t>
            </a:r>
            <a:endParaRPr lang="en-US" sz="1400" dirty="0"/>
          </a:p>
        </p:txBody>
      </p:sp>
      <p:sp>
        <p:nvSpPr>
          <p:cNvPr id="17" name="Text 15"/>
          <p:cNvSpPr/>
          <p:nvPr/>
        </p:nvSpPr>
        <p:spPr>
          <a:xfrm>
            <a:off x="5440680" y="3931921"/>
            <a:ext cx="584982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160"/>
                </a:solidFill>
                <a:latin typeface="Space Grotesk" pitchFamily="34" charset="0"/>
                <a:ea typeface="Space Grotesk" pitchFamily="34" charset="-122"/>
                <a:cs typeface="Space Grotesk" pitchFamily="34" charset="-120"/>
              </a:rPr>
              <a:t>Sah secara format, tapi sebagian parser upload membacanya sebagai kosong.</a:t>
            </a:r>
            <a:endParaRPr lang="en-US" sz="1400" dirty="0"/>
          </a:p>
        </p:txBody>
      </p:sp>
      <p:sp>
        <p:nvSpPr>
          <p:cNvPr id="18" name="Shape 16"/>
          <p:cNvSpPr/>
          <p:nvPr/>
        </p:nvSpPr>
        <p:spPr>
          <a:xfrm>
            <a:off x="5184775" y="4793617"/>
            <a:ext cx="6191250" cy="971550"/>
          </a:xfrm>
          <a:prstGeom prst="roundRect">
            <a:avLst>
              <a:gd name="adj" fmla="val 12745"/>
            </a:avLst>
          </a:prstGeom>
          <a:solidFill>
            <a:srgbClr val="FFFDF8"/>
          </a:solidFill>
          <a:ln w="6350">
            <a:solidFill>
              <a:srgbClr val="E2DCCD"/>
            </a:solidFill>
            <a:prstDash val="solid"/>
          </a:ln>
        </p:spPr>
      </p:sp>
      <p:sp>
        <p:nvSpPr>
          <p:cNvPr id="19" name="Text 17"/>
          <p:cNvSpPr/>
          <p:nvPr/>
        </p:nvSpPr>
        <p:spPr>
          <a:xfrm>
            <a:off x="5440680" y="4998721"/>
            <a:ext cx="5849823"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6E9E"/>
                </a:solidFill>
                <a:latin typeface="Space Grotesk" pitchFamily="34" charset="0"/>
                <a:ea typeface="Space Grotesk" pitchFamily="34" charset="-122"/>
                <a:cs typeface="Space Grotesk" pitchFamily="34" charset="-120"/>
              </a:rPr>
              <a:t>Kolom ETA dan ETD dibiarkan "General"</a:t>
            </a:r>
            <a:endParaRPr lang="en-US" sz="1400" dirty="0"/>
          </a:p>
        </p:txBody>
      </p:sp>
      <p:sp>
        <p:nvSpPr>
          <p:cNvPr id="20" name="Text 18"/>
          <p:cNvSpPr/>
          <p:nvPr/>
        </p:nvSpPr>
        <p:spPr>
          <a:xfrm>
            <a:off x="5440680" y="5311142"/>
            <a:ext cx="584982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160"/>
                </a:solidFill>
                <a:latin typeface="Space Grotesk" pitchFamily="34" charset="0"/>
                <a:ea typeface="Space Grotesk" pitchFamily="34" charset="-122"/>
                <a:cs typeface="Space Grotesk" pitchFamily="34" charset="-120"/>
              </a:rPr>
              <a:t>Pengguna mengetik tanggal, backend malah menerima 46298.</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B1F27"/>
                </a:solidFill>
                <a:latin typeface="Space Grotesk" pitchFamily="34" charset="0"/>
                <a:ea typeface="Space Grotesk" pitchFamily="34" charset="-122"/>
                <a:cs typeface="Space Grotesk" pitchFamily="34" charset="-120"/>
              </a:rPr>
              <a:t>Bangun hal yang tidak bisa ditiru AI</a:t>
            </a:r>
            <a:endParaRPr lang="en-US" sz="3600" dirty="0"/>
          </a:p>
        </p:txBody>
      </p:sp>
      <p:sp>
        <p:nvSpPr>
          <p:cNvPr id="3" name="Shape 1"/>
          <p:cNvSpPr/>
          <p:nvPr/>
        </p:nvSpPr>
        <p:spPr>
          <a:xfrm>
            <a:off x="815975" y="1623702"/>
            <a:ext cx="5175250" cy="1492250"/>
          </a:xfrm>
          <a:prstGeom prst="roundRect">
            <a:avLst>
              <a:gd name="adj" fmla="val 8298"/>
            </a:avLst>
          </a:prstGeom>
          <a:solidFill>
            <a:srgbClr val="FFFDF8"/>
          </a:solidFill>
          <a:ln w="6350">
            <a:solidFill>
              <a:srgbClr val="E2DCCD"/>
            </a:solidFill>
            <a:prstDash val="solid"/>
          </a:ln>
        </p:spPr>
      </p:sp>
      <p:sp>
        <p:nvSpPr>
          <p:cNvPr id="4" name="Text 2"/>
          <p:cNvSpPr/>
          <p:nvPr/>
        </p:nvSpPr>
        <p:spPr>
          <a:xfrm>
            <a:off x="1071880" y="1879600"/>
            <a:ext cx="4803343"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2F6E9E"/>
                </a:solidFill>
                <a:latin typeface="Space Grotesk" pitchFamily="34" charset="0"/>
                <a:ea typeface="Space Grotesk" pitchFamily="34" charset="-122"/>
                <a:cs typeface="Space Grotesk" pitchFamily="34" charset="-120"/>
              </a:rPr>
              <a:t>Kepercayaan</a:t>
            </a:r>
            <a:endParaRPr lang="en-US" sz="2200" dirty="0"/>
          </a:p>
        </p:txBody>
      </p:sp>
      <p:sp>
        <p:nvSpPr>
          <p:cNvPr id="5" name="Text 3"/>
          <p:cNvSpPr/>
          <p:nvPr/>
        </p:nvSpPr>
        <p:spPr>
          <a:xfrm>
            <a:off x="1071880" y="2291085"/>
            <a:ext cx="4803343"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160"/>
                </a:solidFill>
                <a:latin typeface="Space Grotesk" pitchFamily="34" charset="0"/>
                <a:ea typeface="Space Grotesk" pitchFamily="34" charset="-122"/>
                <a:cs typeface="Space Grotesk" pitchFamily="34" charset="-120"/>
              </a:rPr>
              <a:t>Pelanggan yang yakin uangnya aman di tanganmu.</a:t>
            </a:r>
            <a:endParaRPr lang="en-US" sz="1600" dirty="0"/>
          </a:p>
        </p:txBody>
      </p:sp>
      <p:sp>
        <p:nvSpPr>
          <p:cNvPr id="6" name="Shape 4"/>
          <p:cNvSpPr/>
          <p:nvPr/>
        </p:nvSpPr>
        <p:spPr>
          <a:xfrm>
            <a:off x="6200775" y="1623702"/>
            <a:ext cx="5175250" cy="1492250"/>
          </a:xfrm>
          <a:prstGeom prst="roundRect">
            <a:avLst>
              <a:gd name="adj" fmla="val 8298"/>
            </a:avLst>
          </a:prstGeom>
          <a:solidFill>
            <a:srgbClr val="FFFDF8"/>
          </a:solidFill>
          <a:ln w="6350">
            <a:solidFill>
              <a:srgbClr val="E2DCCD"/>
            </a:solidFill>
            <a:prstDash val="solid"/>
          </a:ln>
        </p:spPr>
      </p:sp>
      <p:sp>
        <p:nvSpPr>
          <p:cNvPr id="7" name="Text 5"/>
          <p:cNvSpPr/>
          <p:nvPr/>
        </p:nvSpPr>
        <p:spPr>
          <a:xfrm>
            <a:off x="6456680" y="1879600"/>
            <a:ext cx="4803343"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2F6E9E"/>
                </a:solidFill>
                <a:latin typeface="Space Grotesk" pitchFamily="34" charset="0"/>
                <a:ea typeface="Space Grotesk" pitchFamily="34" charset="-122"/>
                <a:cs typeface="Space Grotesk" pitchFamily="34" charset="-120"/>
              </a:rPr>
              <a:t>Jalur distribusi</a:t>
            </a:r>
            <a:endParaRPr lang="en-US" sz="2200" dirty="0"/>
          </a:p>
        </p:txBody>
      </p:sp>
      <p:sp>
        <p:nvSpPr>
          <p:cNvPr id="8" name="Text 6"/>
          <p:cNvSpPr/>
          <p:nvPr/>
        </p:nvSpPr>
        <p:spPr>
          <a:xfrm>
            <a:off x="6456680" y="2291085"/>
            <a:ext cx="4803343"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160"/>
                </a:solidFill>
                <a:latin typeface="Space Grotesk" pitchFamily="34" charset="0"/>
                <a:ea typeface="Space Grotesk" pitchFamily="34" charset="-122"/>
                <a:cs typeface="Space Grotesk" pitchFamily="34" charset="-120"/>
              </a:rPr>
              <a:t>Relasi dan jaringan yang dibangun bertahun-tahun.</a:t>
            </a:r>
            <a:endParaRPr lang="en-US" sz="1600" dirty="0"/>
          </a:p>
        </p:txBody>
      </p:sp>
      <p:sp>
        <p:nvSpPr>
          <p:cNvPr id="9" name="Shape 7"/>
          <p:cNvSpPr/>
          <p:nvPr/>
        </p:nvSpPr>
        <p:spPr>
          <a:xfrm>
            <a:off x="815975" y="3325502"/>
            <a:ext cx="5175250" cy="1492250"/>
          </a:xfrm>
          <a:prstGeom prst="roundRect">
            <a:avLst>
              <a:gd name="adj" fmla="val 8298"/>
            </a:avLst>
          </a:prstGeom>
          <a:solidFill>
            <a:srgbClr val="FFFDF8"/>
          </a:solidFill>
          <a:ln w="6350">
            <a:solidFill>
              <a:srgbClr val="E2DCCD"/>
            </a:solidFill>
            <a:prstDash val="solid"/>
          </a:ln>
        </p:spPr>
      </p:sp>
      <p:sp>
        <p:nvSpPr>
          <p:cNvPr id="10" name="Text 8"/>
          <p:cNvSpPr/>
          <p:nvPr/>
        </p:nvSpPr>
        <p:spPr>
          <a:xfrm>
            <a:off x="1071880" y="3581400"/>
            <a:ext cx="4803343"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2F6E9E"/>
                </a:solidFill>
                <a:latin typeface="Space Grotesk" pitchFamily="34" charset="0"/>
                <a:ea typeface="Space Grotesk" pitchFamily="34" charset="-122"/>
                <a:cs typeface="Space Grotesk" pitchFamily="34" charset="-120"/>
              </a:rPr>
              <a:t>Paham lapangan</a:t>
            </a:r>
            <a:endParaRPr lang="en-US" sz="2200" dirty="0"/>
          </a:p>
        </p:txBody>
      </p:sp>
      <p:sp>
        <p:nvSpPr>
          <p:cNvPr id="11" name="Text 9"/>
          <p:cNvSpPr/>
          <p:nvPr/>
        </p:nvSpPr>
        <p:spPr>
          <a:xfrm>
            <a:off x="1071880" y="3992885"/>
            <a:ext cx="4803343"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160"/>
                </a:solidFill>
                <a:latin typeface="Space Grotesk" pitchFamily="34" charset="0"/>
                <a:ea typeface="Space Grotesk" pitchFamily="34" charset="-122"/>
                <a:cs typeface="Space Grotesk" pitchFamily="34" charset="-120"/>
              </a:rPr>
              <a:t>Tahu kalau "ralat" artinya ubah pesanan, bukan order baru.</a:t>
            </a:r>
            <a:endParaRPr lang="en-US" sz="1600" dirty="0"/>
          </a:p>
        </p:txBody>
      </p:sp>
      <p:sp>
        <p:nvSpPr>
          <p:cNvPr id="12" name="Shape 10"/>
          <p:cNvSpPr/>
          <p:nvPr/>
        </p:nvSpPr>
        <p:spPr>
          <a:xfrm>
            <a:off x="6200775" y="3325502"/>
            <a:ext cx="5175250" cy="1492250"/>
          </a:xfrm>
          <a:prstGeom prst="roundRect">
            <a:avLst>
              <a:gd name="adj" fmla="val 8298"/>
            </a:avLst>
          </a:prstGeom>
          <a:solidFill>
            <a:srgbClr val="FFFDF8"/>
          </a:solidFill>
          <a:ln w="6350">
            <a:solidFill>
              <a:srgbClr val="E2DCCD"/>
            </a:solidFill>
            <a:prstDash val="solid"/>
          </a:ln>
        </p:spPr>
      </p:sp>
      <p:sp>
        <p:nvSpPr>
          <p:cNvPr id="13" name="Text 11"/>
          <p:cNvSpPr/>
          <p:nvPr/>
        </p:nvSpPr>
        <p:spPr>
          <a:xfrm>
            <a:off x="6456680" y="3581400"/>
            <a:ext cx="4803343"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2F6E9E"/>
                </a:solidFill>
                <a:latin typeface="Space Grotesk" pitchFamily="34" charset="0"/>
                <a:ea typeface="Space Grotesk" pitchFamily="34" charset="-122"/>
                <a:cs typeface="Space Grotesk" pitchFamily="34" charset="-120"/>
              </a:rPr>
              <a:t>Edge case</a:t>
            </a:r>
            <a:endParaRPr lang="en-US" sz="2200" dirty="0"/>
          </a:p>
        </p:txBody>
      </p:sp>
      <p:sp>
        <p:nvSpPr>
          <p:cNvPr id="14" name="Text 12"/>
          <p:cNvSpPr/>
          <p:nvPr/>
        </p:nvSpPr>
        <p:spPr>
          <a:xfrm>
            <a:off x="6456680" y="3992885"/>
            <a:ext cx="4803343"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160"/>
                </a:solidFill>
                <a:latin typeface="Space Grotesk" pitchFamily="34" charset="0"/>
                <a:ea typeface="Space Grotesk" pitchFamily="34" charset="-122"/>
                <a:cs typeface="Space Grotesk" pitchFamily="34" charset="-120"/>
              </a:rPr>
              <a:t>Kejadian aneh yang cuma 1%, tapi sudah kamu antisipasi.</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1418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Tiga hal untuk dibawa pulang</a:t>
            </a:r>
            <a:endParaRPr lang="en-US" sz="3600" dirty="0"/>
          </a:p>
        </p:txBody>
      </p:sp>
      <p:sp>
        <p:nvSpPr>
          <p:cNvPr id="3" name="Shape 1"/>
          <p:cNvSpPr/>
          <p:nvPr/>
        </p:nvSpPr>
        <p:spPr>
          <a:xfrm>
            <a:off x="815975" y="1623702"/>
            <a:ext cx="10560050" cy="1151890"/>
          </a:xfrm>
          <a:prstGeom prst="roundRect">
            <a:avLst>
              <a:gd name="adj" fmla="val 10750"/>
            </a:avLst>
          </a:prstGeom>
          <a:solidFill>
            <a:srgbClr val="1E2430"/>
          </a:solidFill>
          <a:ln w="6350">
            <a:solidFill>
              <a:srgbClr val="2E3644"/>
            </a:solidFill>
            <a:prstDash val="solid"/>
          </a:ln>
        </p:spPr>
      </p:sp>
      <p:sp>
        <p:nvSpPr>
          <p:cNvPr id="4" name="Text 2"/>
          <p:cNvSpPr/>
          <p:nvPr/>
        </p:nvSpPr>
        <p:spPr>
          <a:xfrm>
            <a:off x="1122680" y="1879600"/>
            <a:ext cx="329184"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F2A541"/>
                </a:solidFill>
                <a:latin typeface="JetBrains Mono" pitchFamily="49" charset="0"/>
                <a:ea typeface="JetBrains Mono" pitchFamily="49" charset="-122"/>
                <a:cs typeface="JetBrains Mono" pitchFamily="49" charset="-120"/>
              </a:rPr>
              <a:t>1</a:t>
            </a:r>
            <a:endParaRPr lang="en-US" sz="3600" dirty="0"/>
          </a:p>
        </p:txBody>
      </p:sp>
      <p:sp>
        <p:nvSpPr>
          <p:cNvPr id="5" name="Text 3"/>
          <p:cNvSpPr/>
          <p:nvPr/>
        </p:nvSpPr>
        <p:spPr>
          <a:xfrm>
            <a:off x="1651000" y="2032000"/>
            <a:ext cx="970245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9E4D8"/>
                </a:solidFill>
                <a:latin typeface="Space Grotesk" pitchFamily="34" charset="0"/>
                <a:ea typeface="Space Grotesk" pitchFamily="34" charset="-122"/>
                <a:cs typeface="Space Grotesk" pitchFamily="34" charset="-120"/>
              </a:rPr>
              <a:t>Belajar Python secukupnya.</a:t>
            </a:r>
            <a:r>
              <a:rPr lang="en-US" sz="2200" dirty="0">
                <a:solidFill>
                  <a:srgbClr val="E9E4D8"/>
                </a:solidFill>
                <a:latin typeface="Space Grotesk" pitchFamily="34" charset="0"/>
                <a:ea typeface="Space Grotesk" pitchFamily="34" charset="-122"/>
                <a:cs typeface="Space Grotesk" pitchFamily="34" charset="-120"/>
              </a:rPr>
              <a:t> </a:t>
            </a:r>
            <a:r>
              <a:rPr lang="en-US" sz="2200" dirty="0">
                <a:solidFill>
                  <a:srgbClr val="B9B4A8"/>
                </a:solidFill>
                <a:latin typeface="Space Grotesk" pitchFamily="34" charset="0"/>
                <a:ea typeface="Space Grotesk" pitchFamily="34" charset="-122"/>
                <a:cs typeface="Space Grotesk" pitchFamily="34" charset="-120"/>
              </a:rPr>
              <a:t>Hitungan minggu, bukan tahun.</a:t>
            </a:r>
            <a:endParaRPr lang="en-US" sz="2200" dirty="0"/>
          </a:p>
        </p:txBody>
      </p:sp>
      <p:sp>
        <p:nvSpPr>
          <p:cNvPr id="6" name="Shape 4"/>
          <p:cNvSpPr/>
          <p:nvPr/>
        </p:nvSpPr>
        <p:spPr>
          <a:xfrm>
            <a:off x="815975" y="2934333"/>
            <a:ext cx="10560050" cy="1182370"/>
          </a:xfrm>
          <a:prstGeom prst="roundRect">
            <a:avLst>
              <a:gd name="adj" fmla="val 10473"/>
            </a:avLst>
          </a:prstGeom>
          <a:solidFill>
            <a:srgbClr val="1E2430"/>
          </a:solidFill>
          <a:ln w="6350">
            <a:solidFill>
              <a:srgbClr val="2E3644"/>
            </a:solidFill>
            <a:prstDash val="solid"/>
          </a:ln>
        </p:spPr>
      </p:sp>
      <p:sp>
        <p:nvSpPr>
          <p:cNvPr id="7" name="Text 5"/>
          <p:cNvSpPr/>
          <p:nvPr/>
        </p:nvSpPr>
        <p:spPr>
          <a:xfrm>
            <a:off x="1122680" y="3205485"/>
            <a:ext cx="280273"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F2A541"/>
                </a:solidFill>
                <a:latin typeface="JetBrains Mono" pitchFamily="49" charset="0"/>
                <a:ea typeface="JetBrains Mono" pitchFamily="49" charset="-122"/>
                <a:cs typeface="JetBrains Mono" pitchFamily="49" charset="-120"/>
              </a:rPr>
              <a:t>2</a:t>
            </a:r>
            <a:endParaRPr lang="en-US" sz="3600" dirty="0"/>
          </a:p>
        </p:txBody>
      </p:sp>
      <p:sp>
        <p:nvSpPr>
          <p:cNvPr id="8" name="Text 6"/>
          <p:cNvSpPr/>
          <p:nvPr/>
        </p:nvSpPr>
        <p:spPr>
          <a:xfrm>
            <a:off x="1606153" y="3190242"/>
            <a:ext cx="9747062" cy="6959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9E4D8"/>
                </a:solidFill>
                <a:latin typeface="Space Grotesk" pitchFamily="34" charset="0"/>
                <a:ea typeface="Space Grotesk" pitchFamily="34" charset="-122"/>
                <a:cs typeface="Space Grotesk" pitchFamily="34" charset="-120"/>
              </a:rPr>
              <a:t>Bangun keunggulan yang tak bisa ditiru AI.</a:t>
            </a:r>
            <a:r>
              <a:rPr lang="en-US" sz="2200" dirty="0">
                <a:solidFill>
                  <a:srgbClr val="E9E4D8"/>
                </a:solidFill>
                <a:latin typeface="Space Grotesk" pitchFamily="34" charset="0"/>
                <a:ea typeface="Space Grotesk" pitchFamily="34" charset="-122"/>
                <a:cs typeface="Space Grotesk" pitchFamily="34" charset="-120"/>
              </a:rPr>
              <a:t> </a:t>
            </a:r>
            <a:r>
              <a:rPr lang="en-US" sz="2200" dirty="0">
                <a:solidFill>
                  <a:srgbClr val="B9B4A8"/>
                </a:solidFill>
                <a:latin typeface="Space Grotesk" pitchFamily="34" charset="0"/>
                <a:ea typeface="Space Grotesk" pitchFamily="34" charset="-122"/>
                <a:cs typeface="Space Grotesk" pitchFamily="34" charset="-120"/>
              </a:rPr>
              <a:t>Kepercayaan, jaringan, paham lapangan.</a:t>
            </a:r>
            <a:endParaRPr lang="en-US" sz="2200" dirty="0"/>
          </a:p>
        </p:txBody>
      </p:sp>
      <p:sp>
        <p:nvSpPr>
          <p:cNvPr id="9" name="Shape 7"/>
          <p:cNvSpPr/>
          <p:nvPr/>
        </p:nvSpPr>
        <p:spPr>
          <a:xfrm>
            <a:off x="815975" y="4275460"/>
            <a:ext cx="10560050" cy="1182370"/>
          </a:xfrm>
          <a:prstGeom prst="roundRect">
            <a:avLst>
              <a:gd name="adj" fmla="val 10473"/>
            </a:avLst>
          </a:prstGeom>
          <a:solidFill>
            <a:srgbClr val="1E2430"/>
          </a:solidFill>
          <a:ln w="6350">
            <a:solidFill>
              <a:srgbClr val="2E3644"/>
            </a:solidFill>
            <a:prstDash val="solid"/>
          </a:ln>
        </p:spPr>
      </p:sp>
      <p:sp>
        <p:nvSpPr>
          <p:cNvPr id="10" name="Text 8"/>
          <p:cNvSpPr/>
          <p:nvPr/>
        </p:nvSpPr>
        <p:spPr>
          <a:xfrm>
            <a:off x="1122680" y="4546600"/>
            <a:ext cx="318230"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F2A541"/>
                </a:solidFill>
                <a:latin typeface="JetBrains Mono" pitchFamily="49" charset="0"/>
                <a:ea typeface="JetBrains Mono" pitchFamily="49" charset="-122"/>
                <a:cs typeface="JetBrains Mono" pitchFamily="49" charset="-120"/>
              </a:rPr>
              <a:t>3</a:t>
            </a:r>
            <a:endParaRPr lang="en-US" sz="3600" dirty="0"/>
          </a:p>
        </p:txBody>
      </p:sp>
      <p:sp>
        <p:nvSpPr>
          <p:cNvPr id="11" name="Text 9"/>
          <p:cNvSpPr/>
          <p:nvPr/>
        </p:nvSpPr>
        <p:spPr>
          <a:xfrm>
            <a:off x="1641872" y="4531358"/>
            <a:ext cx="9710272" cy="6959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9E4D8"/>
                </a:solidFill>
                <a:latin typeface="Space Grotesk" pitchFamily="34" charset="0"/>
                <a:ea typeface="Space Grotesk" pitchFamily="34" charset="-122"/>
                <a:cs typeface="Space Grotesk" pitchFamily="34" charset="-120"/>
              </a:rPr>
              <a:t>Terjaga sejak hari pertama.</a:t>
            </a:r>
            <a:r>
              <a:rPr lang="en-US" sz="2200" dirty="0">
                <a:solidFill>
                  <a:srgbClr val="E9E4D8"/>
                </a:solidFill>
                <a:latin typeface="Space Grotesk" pitchFamily="34" charset="0"/>
                <a:ea typeface="Space Grotesk" pitchFamily="34" charset="-122"/>
                <a:cs typeface="Space Grotesk" pitchFamily="34" charset="-120"/>
              </a:rPr>
              <a:t> </a:t>
            </a:r>
            <a:r>
              <a:rPr lang="en-US" sz="2200" dirty="0">
                <a:solidFill>
                  <a:srgbClr val="B9B4A8"/>
                </a:solidFill>
                <a:latin typeface="Space Grotesk" pitchFamily="34" charset="0"/>
                <a:ea typeface="Space Grotesk" pitchFamily="34" charset="-122"/>
                <a:cs typeface="Space Grotesk" pitchFamily="34" charset="-120"/>
              </a:rPr>
              <a:t>AI yang bekerja, Python yang jadi pengaman.</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2A54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81F"/>
                </a:solidFill>
                <a:latin typeface="JetBrains Mono" pitchFamily="49" charset="0"/>
                <a:ea typeface="JetBrains Mono" pitchFamily="49" charset="-122"/>
                <a:cs typeface="JetBrains Mono" pitchFamily="49" charset="-120"/>
              </a:rPr>
              <a:t>&gt;&gt;&gt; tanya_jawab()</a:t>
            </a:r>
            <a:endParaRPr lang="en-US" sz="1600" dirty="0"/>
          </a:p>
        </p:txBody>
      </p:sp>
      <p:sp>
        <p:nvSpPr>
          <p:cNvPr id="3" name="Text 1"/>
          <p:cNvSpPr>
            <a:spLocks noGrp="1"/>
          </p:cNvSpPr>
          <p:nvPr>
            <p:ph type="title"/>
          </p:nvPr>
        </p:nvSpPr>
        <p:spPr>
          <a:xfrm>
            <a:off x="812800" y="2921000"/>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i="0" kern="0" spc="-150" dirty="0">
                <a:solidFill>
                  <a:srgbClr val="14181F"/>
                </a:solidFill>
                <a:latin typeface="Space Grotesk" pitchFamily="34" charset="0"/>
                <a:ea typeface="Space Grotesk" pitchFamily="34" charset="-122"/>
                <a:cs typeface="Space Grotesk" pitchFamily="34" charset="-120"/>
              </a:rPr>
              <a:t>Terima kasih.</a:t>
            </a:r>
            <a:endParaRPr lang="en-US" sz="8000" dirty="0"/>
          </a:p>
        </p:txBody>
      </p:sp>
      <p:sp>
        <p:nvSpPr>
          <p:cNvPr id="4" name="Text 2"/>
          <p:cNvSpPr/>
          <p:nvPr/>
        </p:nvSpPr>
        <p:spPr>
          <a:xfrm>
            <a:off x="812800" y="5760727"/>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81F"/>
                </a:solidFill>
                <a:latin typeface="Space Grotesk" pitchFamily="34" charset="0"/>
                <a:ea typeface="Space Grotesk" pitchFamily="34" charset="-122"/>
                <a:cs typeface="Space Grotesk" pitchFamily="34" charset="-120"/>
              </a:rPr>
              <a:t>Septian · septianhari@gmail.com</a:t>
            </a:r>
            <a:endParaRPr lang="en-US" sz="1600" dirty="0"/>
          </a:p>
        </p:txBody>
      </p:sp>
    </p:spTree>
  </p:cSld>
  <p:clrMapOvr>
    <a:masterClrMapping/>
  </p:clrMapOvr>
</p:sld>
</file>

<file path=ppt/theme/theme1.xml><?xml version="1.0" encoding="utf-8"?>
<a:theme xmlns:a="http://schemas.openxmlformats.org/drawingml/2006/main" name="AI Tidak Menggantikan Founder">
  <a:themeElements>
    <a:clrScheme name="AI Tidak Menggantikan Founder">
      <a:dk1>
        <a:srgbClr val="14181F"/>
      </a:dk1>
      <a:lt1>
        <a:srgbClr val="F4F1EA"/>
      </a:lt1>
      <a:dk2>
        <a:srgbClr val="2A2E33"/>
      </a:dk2>
      <a:lt2>
        <a:srgbClr val="BCBBB7"/>
      </a:lt2>
      <a:accent1>
        <a:srgbClr val="F2A541"/>
      </a:accent1>
      <a:accent2>
        <a:srgbClr val="2F6E9E"/>
      </a:accent2>
      <a:accent3>
        <a:srgbClr val="9CC7E8"/>
      </a:accent3>
      <a:accent4>
        <a:srgbClr val="B9B4A8"/>
      </a:accent4>
      <a:accent5>
        <a:srgbClr val="4A5160"/>
      </a:accent5>
      <a:accent6>
        <a:srgbClr val="8A8F99"/>
      </a:accent6>
      <a:hlink>
        <a:srgbClr val="0563C1"/>
      </a:hlink>
      <a:folHlink>
        <a:srgbClr val="954F72"/>
      </a:folHlink>
    </a:clrScheme>
    <a:fontScheme name="AI Tidak Menggantikan Founder">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TotalTime>
  <Words>3263</Words>
  <Application>Microsoft Office PowerPoint</Application>
  <PresentationFormat>Widescreen</PresentationFormat>
  <Paragraphs>319</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JetBrains Mono</vt:lpstr>
      <vt:lpstr>Space Grotesk</vt:lpstr>
      <vt:lpstr>AI Tidak Menggantikan Founder</vt:lpstr>
      <vt:lpstr>AI tidak akan menggantikan founder.</vt:lpstr>
      <vt:lpstr>Siapa yang yakin AI bakal mengambil alih pekerjaan karyawanmu nanti?</vt:lpstr>
      <vt:lpstr>Bisakah AI melakukan ini dalam 2 tahun ke depan?</vt:lpstr>
      <vt:lpstr>AI yang kamu pakai, dipakai juga oleh kompetitormu.</vt:lpstr>
      <vt:lpstr>Mengerjakan jadi murah. Mengarahkan jadi langka.</vt:lpstr>
      <vt:lpstr>Python untuk AI itu seperti Excel untuk dunia bisnis.</vt:lpstr>
      <vt:lpstr>Cukup bisa baca dan rakit. Tidak perlu jadi programmer.</vt:lpstr>
      <vt:lpstr>Yang kita kirim ke Claude</vt:lpstr>
      <vt:lpstr>Yang Claude kirim balik</vt:lpstr>
      <vt:lpstr>Demo langsung: AI sebagai karyawan pertamamu</vt:lpstr>
      <vt:lpstr>Selasa pagi di sebuah toko di Makassar</vt:lpstr>
      <vt:lpstr>PowerPoint Presentation</vt:lpstr>
      <vt:lpstr>PowerPoint Presentation</vt:lpstr>
      <vt:lpstr>Tujuh pengaman, cukup pakai Python biasa</vt:lpstr>
      <vt:lpstr>Bikin demo itu murah. Bikin sistem yang jalan beneran itu mahal.</vt:lpstr>
      <vt:lpstr>AI bilang beres. Excel bilang tidak.</vt:lpstr>
      <vt:lpstr>Bangun hal yang tidak bisa ditiru AI</vt:lpstr>
      <vt:lpstr>Tiga hal untuk dibawa pulang</vt:lpstr>
      <vt:lpstr>Terima kasih.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Tidak Menggantikan Founder</dc:title>
  <dc:subject/>
  <dc:creator/>
  <cp:lastModifiedBy>LENOVO ID</cp:lastModifiedBy>
  <cp:revision>5</cp:revision>
  <dcterms:created xsi:type="dcterms:W3CDTF">2026-10-09T23:22:24Z</dcterms:created>
  <dcterms:modified xsi:type="dcterms:W3CDTF">2026-10-10T02:05:37Z</dcterms:modified>
</cp:coreProperties>
</file>